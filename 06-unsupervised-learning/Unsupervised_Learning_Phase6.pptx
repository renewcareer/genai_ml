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340" cy="146304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2438340" cy="146304"/>
          </a:xfrm>
          <a:prstGeom prst="rect">
            <a:avLst/>
          </a:prstGeom>
          <a:solidFill>
            <a:srgbClr val="F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0"/>
            <a:ext cx="2438340" cy="146304"/>
          </a:xfrm>
          <a:prstGeom prst="rect">
            <a:avLst/>
          </a:prstGeom>
          <a:solidFill>
            <a:srgbClr val="4CD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0"/>
            <a:ext cx="2438340" cy="146304"/>
          </a:xfrm>
          <a:prstGeom prst="rect">
            <a:avLst/>
          </a:prstGeom>
          <a:solidFill>
            <a:srgbClr val="F5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0"/>
            <a:ext cx="2438340" cy="146304"/>
          </a:xfrm>
          <a:prstGeom prst="rect">
            <a:avLst/>
          </a:prstGeom>
          <a:solidFill>
            <a:srgbClr val="C24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8A8FA8"/>
                </a:solidFill>
                <a:latin typeface="Calibri"/>
              </a:rPr>
              <a:t>PHASE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Calibri"/>
              </a:rPr>
              <a:t>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C7CBDE"/>
                </a:solidFill>
                <a:latin typeface="Calibri"/>
              </a:rPr>
              <a:t>Finding structure, compression, anomalies, associations, and recommendations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C7CBDE"/>
                </a:solidFill>
                <a:latin typeface="Calibri"/>
              </a:rPr>
              <a:t>in data with no labels at all — on real datasets, end to end.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617720"/>
            <a:ext cx="2084831" cy="1417320"/>
          </a:xfrm>
          <a:prstGeom prst="roundRect">
            <a:avLst>
              <a:gd name="adj" fmla="val 12000"/>
            </a:avLst>
          </a:prstGeom>
          <a:solidFill>
            <a:srgbClr val="1F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4617720"/>
            <a:ext cx="2084831" cy="73152"/>
          </a:xfrm>
          <a:prstGeom prst="round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818888"/>
            <a:ext cx="208483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4C6FFF"/>
                </a:solidFill>
                <a:latin typeface="Calibri"/>
              </a:rPr>
              <a:t>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5394960"/>
            <a:ext cx="1938527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6.1 Clustering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71215" y="4617720"/>
            <a:ext cx="2084831" cy="1417320"/>
          </a:xfrm>
          <a:prstGeom prst="roundRect">
            <a:avLst>
              <a:gd name="adj" fmla="val 12000"/>
            </a:avLst>
          </a:prstGeom>
          <a:solidFill>
            <a:srgbClr val="1F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871215" y="4617720"/>
            <a:ext cx="2084831" cy="73152"/>
          </a:xfrm>
          <a:prstGeom prst="roundRect">
            <a:avLst/>
          </a:prstGeom>
          <a:solidFill>
            <a:srgbClr val="F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71215" y="4818888"/>
            <a:ext cx="208483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FF8A4C"/>
                </a:solidFill>
                <a:latin typeface="Calibri"/>
              </a:rPr>
              <a:t>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44367" y="5394960"/>
            <a:ext cx="1938527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6.2 Dim. Reduction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02350" y="4617720"/>
            <a:ext cx="2084831" cy="1417320"/>
          </a:xfrm>
          <a:prstGeom prst="roundRect">
            <a:avLst>
              <a:gd name="adj" fmla="val 12000"/>
            </a:avLst>
          </a:prstGeom>
          <a:solidFill>
            <a:srgbClr val="1F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02350" y="4617720"/>
            <a:ext cx="2084831" cy="73152"/>
          </a:xfrm>
          <a:prstGeom prst="roundRect">
            <a:avLst/>
          </a:prstGeom>
          <a:solidFill>
            <a:srgbClr val="4CD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02350" y="4818888"/>
            <a:ext cx="208483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4CD07D"/>
                </a:solidFill>
                <a:latin typeface="Calibri"/>
              </a:rPr>
              <a:t>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2" y="5394960"/>
            <a:ext cx="1938527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6.3 Anomaly</a:t>
            </a:r>
          </a:p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Detection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33485" y="4617720"/>
            <a:ext cx="2084831" cy="1417320"/>
          </a:xfrm>
          <a:prstGeom prst="roundRect">
            <a:avLst>
              <a:gd name="adj" fmla="val 12000"/>
            </a:avLst>
          </a:prstGeom>
          <a:solidFill>
            <a:srgbClr val="1F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33485" y="4617720"/>
            <a:ext cx="2084831" cy="73152"/>
          </a:xfrm>
          <a:prstGeom prst="roundRect">
            <a:avLst/>
          </a:prstGeom>
          <a:solidFill>
            <a:srgbClr val="F5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33485" y="4818888"/>
            <a:ext cx="208483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F5C242"/>
                </a:solidFill>
                <a:latin typeface="Calibri"/>
              </a:rPr>
              <a:t>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37" y="5394960"/>
            <a:ext cx="1938527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6.4 Market Basket</a:t>
            </a:r>
          </a:p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Analysis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64620" y="4617720"/>
            <a:ext cx="2084831" cy="1417320"/>
          </a:xfrm>
          <a:prstGeom prst="roundRect">
            <a:avLst>
              <a:gd name="adj" fmla="val 12000"/>
            </a:avLst>
          </a:prstGeom>
          <a:solidFill>
            <a:srgbClr val="1F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564620" y="4617720"/>
            <a:ext cx="2084831" cy="73152"/>
          </a:xfrm>
          <a:prstGeom prst="roundRect">
            <a:avLst/>
          </a:prstGeom>
          <a:solidFill>
            <a:srgbClr val="C24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64620" y="4818888"/>
            <a:ext cx="208483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C24CFF"/>
                </a:solidFill>
                <a:latin typeface="Calibri"/>
              </a:rPr>
              <a:t>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7772" y="5394960"/>
            <a:ext cx="1938527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6.5 Recommendation</a:t>
            </a:r>
          </a:p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Systems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8A8FA8"/>
                </a:solidFill>
                <a:latin typeface="Calibri"/>
              </a:rPr>
              <a:t>Instructor deck · every dataset loaded live from a public source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6FFF"/>
                </a:solidFill>
                <a:latin typeface="Calibri"/>
              </a:rP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2433"/>
                </a:solidFill>
                <a:latin typeface="Calibri"/>
              </a:rPr>
              <a:t>Why Drop the Labels?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05840" cy="38100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B6075"/>
                </a:solidFill>
                <a:latin typeface="Calibri"/>
              </a:rPr>
              <a:t>Phase 5 always gave you a target column to train against. Real data rarely does.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35661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737360"/>
            <a:ext cx="82296" cy="3566160"/>
          </a:xfrm>
          <a:prstGeom prst="roundRect">
            <a:avLst>
              <a:gd name="adj" fmla="val 50000"/>
            </a:avLst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865376"/>
            <a:ext cx="31638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22433"/>
                </a:solidFill>
                <a:latin typeface="Calibri"/>
              </a:rPr>
              <a:t>🏷  Supervised (Phase 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249424"/>
            <a:ext cx="3163824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You have X AND y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Goal: predict a KNOWN target
(price, class, default risk...)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Success = compare prediction
to ground truth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Examples: regression,
classification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737360"/>
            <a:ext cx="35661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51960" y="1737360"/>
            <a:ext cx="82296" cy="3566160"/>
          </a:xfrm>
          <a:prstGeom prst="roundRect">
            <a:avLst>
              <a:gd name="adj" fmla="val 50000"/>
            </a:avLst>
          </a:prstGeom>
          <a:solidFill>
            <a:srgbClr val="F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1865376"/>
            <a:ext cx="31638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22433"/>
                </a:solidFill>
                <a:latin typeface="Calibri"/>
              </a:rPr>
              <a:t>🔍  Unsupervised (Phase 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2249424"/>
            <a:ext cx="3163824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You only have X — no labels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Goal: discover STRUCTURE
you weren't told about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Success = does the structure
hold up, is it useful?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Examples: clustering,
compression, anomalies, rules, recs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737360"/>
            <a:ext cx="370332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01000" y="1737360"/>
            <a:ext cx="82296" cy="3566160"/>
          </a:xfrm>
          <a:prstGeom prst="roundRect">
            <a:avLst>
              <a:gd name="adj" fmla="val 50000"/>
            </a:avLst>
          </a:prstGeom>
          <a:solidFill>
            <a:srgbClr val="C24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8" y="1865376"/>
            <a:ext cx="33009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22433"/>
                </a:solidFill>
                <a:latin typeface="Calibri"/>
              </a:rPr>
              <a:t>🌍  Where it shows 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2249424"/>
            <a:ext cx="3300984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Segmenting customers nobody
labeled in advance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Compressing data before
it's ever modeled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Catching fraud with almost
no confirmed cases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"Bought together" &amp; "you
might also like" engines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4864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2433"/>
                </a:solidFill>
                <a:latin typeface="Calibri"/>
              </a:rPr>
              <a:t>The common thread across all 5 sections: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0887" y="5943600"/>
            <a:ext cx="3291840" cy="777240"/>
          </a:xfrm>
          <a:prstGeom prst="roundRect">
            <a:avLst>
              <a:gd name="adj" fmla="val 14000"/>
            </a:avLst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4039" y="6071616"/>
            <a:ext cx="3145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Real, unlabeled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4039" y="6419088"/>
            <a:ext cx="31455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no target column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49927" y="5943600"/>
            <a:ext cx="3291840" cy="777240"/>
          </a:xfrm>
          <a:prstGeom prst="roundRect">
            <a:avLst>
              <a:gd name="adj" fmla="val 14000"/>
            </a:avLst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3079" y="6071616"/>
            <a:ext cx="3145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An algorithm's OWN</a:t>
            </a:r>
          </a:p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definition of 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3079" y="6419088"/>
            <a:ext cx="31455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distance, density,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variance, support...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98967" y="5943600"/>
            <a:ext cx="3291840" cy="777240"/>
          </a:xfrm>
          <a:prstGeom prst="roundRect">
            <a:avLst>
              <a:gd name="adj" fmla="val 14000"/>
            </a:avLst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2119" y="6071616"/>
            <a:ext cx="3145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Structure you can</a:t>
            </a:r>
          </a:p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act 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2119" y="6419088"/>
            <a:ext cx="31455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segments, rules,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scores, recs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992727" y="6332220.0"/>
            <a:ext cx="457200" cy="0.0"/>
          </a:xfrm>
          <a:prstGeom prst="line">
            <a:avLst/>
          </a:prstGeom>
          <a:ln w="25400">
            <a:solidFill>
              <a:srgbClr val="5B607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741767" y="6332220.0"/>
            <a:ext cx="457200" cy="0.0"/>
          </a:xfrm>
          <a:prstGeom prst="line">
            <a:avLst/>
          </a:prstGeom>
          <a:ln w="25400">
            <a:solidFill>
              <a:srgbClr val="5B607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75"/>
                </a:solidFill>
                <a:latin typeface="Calibri"/>
              </a:rPr>
              <a:t>Foundations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651967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75"/>
                </a:solidFill>
                <a:latin typeface="Calibri"/>
              </a:rPr>
              <a:t>Phase 6 · Unsupervised 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6FFF"/>
                </a:solidFill>
                <a:latin typeface="Calibri"/>
              </a:rPr>
              <a:t>COURSE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2433"/>
                </a:solidFill>
                <a:latin typeface="Calibri"/>
              </a:rPr>
              <a:t>Phase 6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05840" cy="38100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B6075"/>
                </a:solidFill>
                <a:latin typeface="Calibri"/>
              </a:rPr>
              <a:t>Five sections, five real datasets, three capstone projects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7987" y="1600200"/>
            <a:ext cx="2148840" cy="1234440"/>
          </a:xfrm>
          <a:prstGeom prst="roundRect">
            <a:avLst>
              <a:gd name="adj" fmla="val 14000"/>
            </a:avLst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1139" y="1728216"/>
            <a:ext cx="2002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6.1 Clustering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139" y="2075688"/>
            <a:ext cx="20025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K-Means → Mean Shift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Mall Customers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89707" y="1600200"/>
            <a:ext cx="2148840" cy="1234440"/>
          </a:xfrm>
          <a:prstGeom prst="roundRect">
            <a:avLst>
              <a:gd name="adj" fmla="val 14000"/>
            </a:avLst>
          </a:prstGeom>
          <a:solidFill>
            <a:srgbClr val="F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62859" y="1728216"/>
            <a:ext cx="2002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6.2 Dim. Reduction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62859" y="2075688"/>
            <a:ext cx="20025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PCA → Autoencoders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Wine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1427" y="1600200"/>
            <a:ext cx="2148840" cy="1234440"/>
          </a:xfrm>
          <a:prstGeom prst="roundRect">
            <a:avLst>
              <a:gd name="adj" fmla="val 14000"/>
            </a:avLst>
          </a:prstGeom>
          <a:solidFill>
            <a:srgbClr val="4CD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94579" y="1728216"/>
            <a:ext cx="2002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6.3 Anomaly Detect.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94579" y="2075688"/>
            <a:ext cx="20025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IsoForest, OCSVM, LOF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Credit Card Fraud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53147" y="1600200"/>
            <a:ext cx="2148840" cy="1234440"/>
          </a:xfrm>
          <a:prstGeom prst="roundRect">
            <a:avLst>
              <a:gd name="adj" fmla="val 14000"/>
            </a:avLst>
          </a:prstGeom>
          <a:solidFill>
            <a:srgbClr val="F5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26299" y="1728216"/>
            <a:ext cx="2002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6.4 Market Basket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6299" y="2075688"/>
            <a:ext cx="20025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Apriori, FP-Growth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Groceries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84867" y="1600200"/>
            <a:ext cx="2148840" cy="1234440"/>
          </a:xfrm>
          <a:prstGeom prst="roundRect">
            <a:avLst>
              <a:gd name="adj" fmla="val 14000"/>
            </a:avLst>
          </a:prstGeom>
          <a:solidFill>
            <a:srgbClr val="C24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58019" y="1728216"/>
            <a:ext cx="2002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6.5 Recommenders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58019" y="2075688"/>
            <a:ext cx="20025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Collab, Content, Hybrid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MovieLens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506827" y="2217420.0"/>
            <a:ext cx="182880" cy="0.0"/>
          </a:xfrm>
          <a:prstGeom prst="line">
            <a:avLst/>
          </a:prstGeom>
          <a:ln w="25400">
            <a:solidFill>
              <a:srgbClr val="5B607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838547" y="2217420.0"/>
            <a:ext cx="182880" cy="0.0"/>
          </a:xfrm>
          <a:prstGeom prst="line">
            <a:avLst/>
          </a:prstGeom>
          <a:ln w="25400">
            <a:solidFill>
              <a:srgbClr val="5B607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170267" y="2217420.0"/>
            <a:ext cx="182880" cy="0.0"/>
          </a:xfrm>
          <a:prstGeom prst="line">
            <a:avLst/>
          </a:prstGeom>
          <a:ln w="25400">
            <a:solidFill>
              <a:srgbClr val="5B607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501987" y="2217420.0"/>
            <a:ext cx="182880" cy="0.0"/>
          </a:xfrm>
          <a:prstGeom prst="line">
            <a:avLst/>
          </a:prstGeom>
          <a:ln w="25400">
            <a:solidFill>
              <a:srgbClr val="5B607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02920" y="32461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1">
                <a:solidFill>
                  <a:srgbClr val="5B6075"/>
                </a:solidFill>
                <a:latin typeface="Calibri"/>
              </a:rPr>
              <a:t>then converges into 3 real capstone projects 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52447" y="3749039"/>
            <a:ext cx="2651760" cy="1051560"/>
          </a:xfrm>
          <a:prstGeom prst="roundRect">
            <a:avLst>
              <a:gd name="adj" fmla="val 14000"/>
            </a:avLst>
          </a:prstGeom>
          <a:solidFill>
            <a:srgbClr val="3A3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5599" y="3877055"/>
            <a:ext cx="2505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Customer</a:t>
            </a:r>
          </a:p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Segmentation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5599" y="4224527"/>
            <a:ext cx="25054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segment &amp; NAME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real B2B clients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69967" y="3749039"/>
            <a:ext cx="2651760" cy="1051560"/>
          </a:xfrm>
          <a:prstGeom prst="roundRect">
            <a:avLst>
              <a:gd name="adj" fmla="val 14000"/>
            </a:avLst>
          </a:prstGeom>
          <a:solidFill>
            <a:srgbClr val="3A3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43119" y="3877055"/>
            <a:ext cx="2505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Fraud Detection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3119" y="4224527"/>
            <a:ext cx="25054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investigation-budget-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aware ensemble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87487" y="3749039"/>
            <a:ext cx="2651760" cy="1051560"/>
          </a:xfrm>
          <a:prstGeom prst="roundRect">
            <a:avLst>
              <a:gd name="adj" fmla="val 14000"/>
            </a:avLst>
          </a:prstGeom>
          <a:solidFill>
            <a:srgbClr val="3A3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0639" y="3877055"/>
            <a:ext cx="2505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Recommendation</a:t>
            </a:r>
          </a:p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Engine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0639" y="4224527"/>
            <a:ext cx="25054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offline eval +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cold-start fix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404207" y="4274819.0"/>
            <a:ext cx="365760" cy="0.0"/>
          </a:xfrm>
          <a:prstGeom prst="line">
            <a:avLst/>
          </a:prstGeom>
          <a:ln w="25400">
            <a:solidFill>
              <a:srgbClr val="5B607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421727" y="4274819.0"/>
            <a:ext cx="365760" cy="0.0"/>
          </a:xfrm>
          <a:prstGeom prst="line">
            <a:avLst/>
          </a:prstGeom>
          <a:ln w="25400">
            <a:solidFill>
              <a:srgbClr val="5B607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02920" y="516636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22433"/>
                </a:solidFill>
                <a:latin typeface="Calibri"/>
              </a:rPr>
              <a:t>Every dataset used, at a glance: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502920" y="5532120"/>
          <a:ext cx="11201399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4245"/>
                <a:gridCol w="1927122"/>
                <a:gridCol w="5420032"/>
              </a:tblGrid>
              <a:tr h="1600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 anchor="ctr" marT="50800" marB="50800">
                    <a:solidFill>
                      <a:srgbClr val="4C6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Rows</a:t>
                      </a:r>
                    </a:p>
                  </a:txBody>
                  <a:tcPr anchor="ctr" marT="50800" marB="50800">
                    <a:solidFill>
                      <a:srgbClr val="4C6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Used in</a:t>
                      </a:r>
                    </a:p>
                  </a:txBody>
                  <a:tcPr anchor="ctr" marT="50800" marB="50800">
                    <a:solidFill>
                      <a:srgbClr val="4C6FFF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433"/>
                          </a:solidFill>
                          <a:latin typeface="Calibri"/>
                        </a:rPr>
                        <a:t>Mall Customers</a:t>
                      </a:r>
                    </a:p>
                  </a:txBody>
                  <a:tcPr anchor="ctr"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433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anchor="ctr"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433"/>
                          </a:solidFill>
                          <a:latin typeface="Calibri"/>
                        </a:rPr>
                        <a:t>6.1 Clustering</a:t>
                      </a:r>
                    </a:p>
                  </a:txBody>
                  <a:tcPr anchor="ctr" marL="101600" marT="38100" marB="38100">
                    <a:solidFill>
                      <a:srgbClr val="FFFFFF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433"/>
                          </a:solidFill>
                          <a:latin typeface="Calibri"/>
                        </a:rPr>
                        <a:t>Wine</a:t>
                      </a:r>
                    </a:p>
                  </a:txBody>
                  <a:tcPr anchor="ctr" marL="101600" marT="38100" marB="38100">
                    <a:solidFill>
                      <a:srgbClr val="F2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433"/>
                          </a:solidFill>
                          <a:latin typeface="Calibri"/>
                        </a:rPr>
                        <a:t>178</a:t>
                      </a:r>
                    </a:p>
                  </a:txBody>
                  <a:tcPr anchor="ctr" marL="101600" marT="38100" marB="38100">
                    <a:solidFill>
                      <a:srgbClr val="F2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433"/>
                          </a:solidFill>
                          <a:latin typeface="Calibri"/>
                        </a:rPr>
                        <a:t>6.2 Dim. Reduction</a:t>
                      </a:r>
                    </a:p>
                  </a:txBody>
                  <a:tcPr anchor="ctr" marL="101600" marT="38100" marB="38100">
                    <a:solidFill>
                      <a:srgbClr val="F2F4F9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433"/>
                          </a:solidFill>
                          <a:latin typeface="Calibri"/>
                        </a:rPr>
                        <a:t>Credit Card Fraud</a:t>
                      </a:r>
                    </a:p>
                  </a:txBody>
                  <a:tcPr anchor="ctr"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433"/>
                          </a:solidFill>
                          <a:latin typeface="Calibri"/>
                        </a:rPr>
                        <a:t>284,807</a:t>
                      </a:r>
                    </a:p>
                  </a:txBody>
                  <a:tcPr anchor="ctr"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433"/>
                          </a:solidFill>
                          <a:latin typeface="Calibri"/>
                        </a:rPr>
                        <a:t>6.3 Anomaly Detection · Fraud Detection project</a:t>
                      </a:r>
                    </a:p>
                  </a:txBody>
                  <a:tcPr anchor="ctr" marL="101600" marT="38100" marB="38100">
                    <a:solidFill>
                      <a:srgbClr val="FFFFFF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433"/>
                          </a:solidFill>
                          <a:latin typeface="Calibri"/>
                        </a:rPr>
                        <a:t>Groceries</a:t>
                      </a:r>
                    </a:p>
                  </a:txBody>
                  <a:tcPr anchor="ctr" marL="101600" marT="38100" marB="38100">
                    <a:solidFill>
                      <a:srgbClr val="F2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433"/>
                          </a:solidFill>
                          <a:latin typeface="Calibri"/>
                        </a:rPr>
                        <a:t>9,835 transactions</a:t>
                      </a:r>
                    </a:p>
                  </a:txBody>
                  <a:tcPr anchor="ctr" marL="101600" marT="38100" marB="38100">
                    <a:solidFill>
                      <a:srgbClr val="F2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433"/>
                          </a:solidFill>
                          <a:latin typeface="Calibri"/>
                        </a:rPr>
                        <a:t>6.4 Market Basket Analysis</a:t>
                      </a:r>
                    </a:p>
                  </a:txBody>
                  <a:tcPr anchor="ctr" marL="101600" marT="38100" marB="38100">
                    <a:solidFill>
                      <a:srgbClr val="F2F4F9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433"/>
                          </a:solidFill>
                          <a:latin typeface="Calibri"/>
                        </a:rPr>
                        <a:t>MovieLens (ml-latest-small)</a:t>
                      </a:r>
                    </a:p>
                  </a:txBody>
                  <a:tcPr anchor="ctr"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433"/>
                          </a:solidFill>
                          <a:latin typeface="Calibri"/>
                        </a:rPr>
                        <a:t>100,836 ratings</a:t>
                      </a:r>
                    </a:p>
                  </a:txBody>
                  <a:tcPr anchor="ctr"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433"/>
                          </a:solidFill>
                          <a:latin typeface="Calibri"/>
                        </a:rPr>
                        <a:t>6.5 Recommenders · Recommendation Engine project</a:t>
                      </a:r>
                    </a:p>
                  </a:txBody>
                  <a:tcPr anchor="ctr" marL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75"/>
                </a:solidFill>
                <a:latin typeface="Calibri"/>
              </a:rPr>
              <a:t>Course Map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651967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75"/>
                </a:solidFill>
                <a:latin typeface="Calibri"/>
              </a:rPr>
              <a:t>Phase 6 · Unsupervised 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i="0">
                <a:solidFill>
                  <a:srgbClr val="4C6FFF"/>
                </a:solidFill>
                <a:latin typeface="Calibri"/>
              </a:rPr>
              <a:t>6.1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360" y="2057400"/>
            <a:ext cx="8595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78892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1">
                <a:solidFill>
                  <a:srgbClr val="C7CBDE"/>
                </a:solidFill>
                <a:latin typeface="Calibri"/>
              </a:rPr>
              <a:t>Six genuinely different definitions of “a group,” compared on the same real customers.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429000"/>
            <a:ext cx="1828800" cy="38100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26080" y="3794760"/>
            <a:ext cx="6035040" cy="566928"/>
          </a:xfrm>
          <a:prstGeom prst="roundRect">
            <a:avLst>
              <a:gd name="adj" fmla="val 50000"/>
            </a:avLst>
          </a:prstGeom>
          <a:solidFill>
            <a:srgbClr val="22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3794760"/>
            <a:ext cx="5577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📊  Dataset: Mall Customers — 200 shoppers (age, income, spending score)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4480560"/>
            <a:ext cx="6035040" cy="566928"/>
          </a:xfrm>
          <a:prstGeom prst="roundRect">
            <a:avLst>
              <a:gd name="adj" fmla="val 50000"/>
            </a:avLst>
          </a:prstGeom>
          <a:solidFill>
            <a:srgbClr val="22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4480560"/>
            <a:ext cx="5577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📓  Notebook: 01_clustering_algorithms.ipynb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8FA8"/>
                </a:solidFill>
                <a:latin typeface="Calibri"/>
              </a:rPr>
              <a:t>Phase 6 — Unsupervised Learning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6FFF"/>
                </a:solidFill>
                <a:latin typeface="Calibri"/>
              </a:rPr>
              <a:t>6.1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2433"/>
                </a:solidFill>
                <a:latin typeface="Calibri"/>
              </a:rPr>
              <a:t>Why This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05840" cy="38100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54406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82296" cy="2286000"/>
          </a:xfrm>
          <a:prstGeom prst="roundRect">
            <a:avLst>
              <a:gd name="adj" fmla="val 50000"/>
            </a:avLst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865376"/>
            <a:ext cx="50383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22433"/>
                </a:solidFill>
                <a:latin typeface="Calibri"/>
              </a:rPr>
              <a:t>🎯  Real-world payoff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249424"/>
            <a:ext cx="503834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5B6075"/>
                </a:solidFill>
                <a:latin typeface="Calibri"/>
              </a:rPr>
              <a:t>›  Customer segmentation, anomaly pre-screening,
and exploratory structure-finding on unlabeled
data all start here.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5B6075"/>
                </a:solidFill>
                <a:latin typeface="Calibri"/>
              </a:rPr>
              <a:t>›  Nobody hands you pre-defined customer
segments — you have to find them.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37360"/>
            <a:ext cx="55321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1737360"/>
            <a:ext cx="82296" cy="2286000"/>
          </a:xfrm>
          <a:prstGeom prst="roundRect">
            <a:avLst>
              <a:gd name="adj" fmla="val 50000"/>
            </a:avLst>
          </a:prstGeom>
          <a:solidFill>
            <a:srgbClr val="C24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865376"/>
            <a:ext cx="5129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22433"/>
                </a:solidFill>
                <a:latin typeface="Calibri"/>
              </a:rPr>
              <a:t>🌉  Bridges forward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249424"/>
            <a:ext cx="512978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5B6075"/>
                </a:solidFill>
                <a:latin typeface="Calibri"/>
              </a:rPr>
              <a:t>›  DBSCAN's “noise” concept is a direct bridge
into 6.3 Anomaly Detection.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5B6075"/>
                </a:solidFill>
                <a:latin typeface="Calibri"/>
              </a:rPr>
              <a:t>›  Scaling features before distance-based
clustering reuses the norms you derived
in Module 1.1.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25196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22433"/>
                </a:solidFill>
                <a:latin typeface="Calibri"/>
              </a:rPr>
              <a:t>The data, before any clustering: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66344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222433"/>
                </a:solidFill>
                <a:latin typeface="Calibri"/>
              </a:rPr>
              <a:t>›  200 real, anonymized mall customers — gender, age, annual income (k$), and a mall-assigned spending score (1-100).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222433"/>
                </a:solidFill>
                <a:latin typeface="Calibri"/>
              </a:rPr>
              <a:t>›  Clustering is run on annual_income &amp; spending_score, standardized first (StandardScaler) — the two features live on very different raw scales.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222433"/>
                </a:solidFill>
                <a:latin typeface="Calibri"/>
              </a:rPr>
              <a:t>›  A plain scatter colored by age already hints at distinct “customer types” — the whole point of this section is finding them algorithmically.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75"/>
                </a:solidFill>
                <a:latin typeface="Calibri"/>
              </a:rPr>
              <a:t>6.1 Clustering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51967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75"/>
                </a:solidFill>
                <a:latin typeface="Calibri"/>
              </a:rPr>
              <a:t>Phase 6 · Unsupervised 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6FFF"/>
                </a:solidFill>
                <a:latin typeface="Calibri"/>
              </a:rPr>
              <a:t>6.1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2433"/>
                </a:solidFill>
                <a:latin typeface="Calibri"/>
              </a:rPr>
              <a:t>Choosing a Clustering 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05840" cy="38100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B6075"/>
                </a:solidFill>
                <a:latin typeface="Calibri"/>
              </a:rPr>
              <a:t>The decision tree that drives everything else in this section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1691640"/>
            <a:ext cx="2743200" cy="731520"/>
          </a:xfrm>
          <a:prstGeom prst="roundRect">
            <a:avLst>
              <a:gd name="adj" fmla="val 15000"/>
            </a:avLst>
          </a:prstGeom>
          <a:solidFill>
            <a:srgbClr val="161A2E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1691640"/>
            <a:ext cx="25603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Do you know how</a:t>
            </a:r>
          </a:p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many groups (k)?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063240"/>
            <a:ext cx="1965960" cy="777240"/>
          </a:xfrm>
          <a:prstGeom prst="roundRect">
            <a:avLst>
              <a:gd name="adj" fmla="val 15000"/>
            </a:avLst>
          </a:prstGeom>
          <a:solidFill>
            <a:srgbClr val="4C6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" y="3063240"/>
            <a:ext cx="185623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YES</a:t>
            </a:r>
          </a:p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→ K-Means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60604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5B6075"/>
                </a:solidFill>
                <a:latin typeface="Calibri"/>
              </a:rPr>
              <a:t>Yes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80" y="3063240"/>
            <a:ext cx="2240280" cy="777240"/>
          </a:xfrm>
          <a:prstGeom prst="roundRect">
            <a:avLst>
              <a:gd name="adj" fmla="val 15000"/>
            </a:avLst>
          </a:prstGeom>
          <a:solidFill>
            <a:srgbClr val="6F8C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52344" y="3063240"/>
            <a:ext cx="213055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NO, explore first</a:t>
            </a:r>
          </a:p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→ Hierarchical</a:t>
            </a:r>
          </a:p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(cut dendrogram later)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60604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5B6075"/>
                </a:solidFill>
                <a:latin typeface="Calibri"/>
              </a:rPr>
              <a:t>No, explore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60" y="3063240"/>
            <a:ext cx="1828800" cy="777240"/>
          </a:xfrm>
          <a:prstGeom prst="roundRect">
            <a:avLst>
              <a:gd name="adj" fmla="val 15000"/>
            </a:avLst>
          </a:prstGeom>
          <a:solidFill>
            <a:srgbClr val="161A2E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3063240"/>
            <a:ext cx="17373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Expect outliers?</a:t>
            </a:r>
          </a:p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Uniform density?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260604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5B6075"/>
                </a:solidFill>
                <a:latin typeface="Calibri"/>
              </a:rPr>
              <a:t>No, outliers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57800" y="4343400"/>
            <a:ext cx="1737360" cy="777240"/>
          </a:xfrm>
          <a:prstGeom prst="roundRect">
            <a:avLst>
              <a:gd name="adj" fmla="val 15000"/>
            </a:avLst>
          </a:prstGeom>
          <a:solidFill>
            <a:srgbClr val="4CD07D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12664" y="4343400"/>
            <a:ext cx="162763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Uniform density</a:t>
            </a:r>
          </a:p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→ DBSCAN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23760" y="4343400"/>
            <a:ext cx="1737360" cy="777240"/>
          </a:xfrm>
          <a:prstGeom prst="roundRect">
            <a:avLst>
              <a:gd name="adj" fmla="val 15000"/>
            </a:avLst>
          </a:prstGeom>
          <a:solidFill>
            <a:srgbClr val="1FA963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78624" y="4343400"/>
            <a:ext cx="162763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Varying density</a:t>
            </a:r>
          </a:p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→ OPTICS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3063240"/>
            <a:ext cx="1965960" cy="777240"/>
          </a:xfrm>
          <a:prstGeom prst="roundRect">
            <a:avLst>
              <a:gd name="adj" fmla="val 15000"/>
            </a:avLst>
          </a:prstGeom>
          <a:solidFill>
            <a:srgbClr val="C24C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4" y="3063240"/>
            <a:ext cx="185623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Overlapping / fuzzy</a:t>
            </a:r>
          </a:p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boundaries</a:t>
            </a:r>
          </a:p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→ Gaussian Mixture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2606040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5B6075"/>
                </a:solidFill>
                <a:latin typeface="Calibri"/>
              </a:rPr>
              <a:t>Fuzzy clusters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78440" y="3063240"/>
            <a:ext cx="1371600" cy="777240"/>
          </a:xfrm>
          <a:prstGeom prst="roundRect">
            <a:avLst>
              <a:gd name="adj" fmla="val 15000"/>
            </a:avLst>
          </a:prstGeom>
          <a:solidFill>
            <a:srgbClr val="FF8A4C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33304" y="3063240"/>
            <a:ext cx="126187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Don't want to</a:t>
            </a:r>
          </a:p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choose at all</a:t>
            </a:r>
          </a:p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→ Mean Shift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1463040" y="2423160"/>
            <a:ext cx="3703320" cy="640080"/>
          </a:xfrm>
          <a:prstGeom prst="line">
            <a:avLst/>
          </a:prstGeom>
          <a:ln w="19050">
            <a:solidFill>
              <a:srgbClr val="5B607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3794760" y="2423160"/>
            <a:ext cx="1783080" cy="640080"/>
          </a:xfrm>
          <a:prstGeom prst="line">
            <a:avLst/>
          </a:prstGeom>
          <a:ln w="19050">
            <a:solidFill>
              <a:srgbClr val="5B607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035040" y="2423160"/>
            <a:ext cx="0" cy="640080"/>
          </a:xfrm>
          <a:prstGeom prst="line">
            <a:avLst/>
          </a:prstGeom>
          <a:ln w="19050">
            <a:solidFill>
              <a:srgbClr val="5B607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35040" y="3840480"/>
            <a:ext cx="0" cy="502920"/>
          </a:xfrm>
          <a:prstGeom prst="line">
            <a:avLst/>
          </a:prstGeom>
          <a:ln w="19050">
            <a:solidFill>
              <a:srgbClr val="5B607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766560" y="3840480"/>
            <a:ext cx="1188719" cy="502920"/>
          </a:xfrm>
          <a:prstGeom prst="line">
            <a:avLst/>
          </a:prstGeom>
          <a:ln w="19050">
            <a:solidFill>
              <a:srgbClr val="5B607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995160" y="2423160"/>
            <a:ext cx="2240280" cy="640080"/>
          </a:xfrm>
          <a:prstGeom prst="line">
            <a:avLst/>
          </a:prstGeom>
          <a:ln w="19050">
            <a:solidFill>
              <a:srgbClr val="5B607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223760" y="2423160"/>
            <a:ext cx="3749040" cy="640080"/>
          </a:xfrm>
          <a:prstGeom prst="line">
            <a:avLst/>
          </a:prstGeom>
          <a:ln w="19050">
            <a:solidFill>
              <a:srgbClr val="5B607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75"/>
                </a:solidFill>
                <a:latin typeface="Calibri"/>
              </a:rPr>
              <a:t>6.1 Clustering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651967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75"/>
                </a:solidFill>
                <a:latin typeface="Calibri"/>
              </a:rPr>
              <a:t>Phase 6 · Unsupervised 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6FFF"/>
                </a:solidFill>
                <a:latin typeface="Calibri"/>
              </a:rPr>
              <a:t>6.1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2433"/>
                </a:solidFill>
                <a:latin typeface="Calibri"/>
              </a:rPr>
              <a:t>K-Means &amp; Hierarchical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05840" cy="38100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544068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82296" cy="4297680"/>
          </a:xfrm>
          <a:prstGeom prst="roundRect">
            <a:avLst>
              <a:gd name="adj" fmla="val 50000"/>
            </a:avLst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865376"/>
            <a:ext cx="50383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22433"/>
                </a:solidFill>
                <a:latin typeface="Calibri"/>
              </a:rPr>
              <a:t>① K-Means — distance to centroid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249424"/>
            <a:ext cx="5038344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Pick k centroids → assign every point to its
nearest centroid → move centroid to the mean
of its points → repeat until stable.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You MUST choose k in advance.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Elbow method: plot inertia (within-cluster SSE)
vs k, look for where the drop slows.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Silhouette score: how much closer a point is to
its own cluster vs. the next-nearest (-1 to 1).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On Mall Customers: silhouette peaks at k = 5
(score ≈ 0.555) — 5 clean, interpretable spending
segments.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37360"/>
            <a:ext cx="553212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1737360"/>
            <a:ext cx="82296" cy="4297680"/>
          </a:xfrm>
          <a:prstGeom prst="roundRect">
            <a:avLst>
              <a:gd name="adj" fmla="val 50000"/>
            </a:avLst>
          </a:prstGeom>
          <a:solidFill>
            <a:srgbClr val="6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865376"/>
            <a:ext cx="5129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22433"/>
                </a:solidFill>
                <a:latin typeface="Calibri"/>
              </a:rPr>
              <a:t>② Hierarchical — build the whole tree 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249424"/>
            <a:ext cx="5129784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Ward linkage repeatedly merges the closest
points/clusters into a dendrogram — a full tree,
not one committed answer.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You choose k AFTER seeing the whole structure,
by cutting the tree at a chosen height.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Lets you compare cluster counts (e.g. cut at
distance 7) without re-running the algorithm.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Assumption: depends on linkage method
(Ward tends toward compact, similar-sized groups).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75"/>
                </a:solidFill>
                <a:latin typeface="Calibri"/>
              </a:rPr>
              <a:t>6.1 Clustering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51967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75"/>
                </a:solidFill>
                <a:latin typeface="Calibri"/>
              </a:rPr>
              <a:t>Phase 6 · Unsupervised 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6FFF"/>
                </a:solidFill>
                <a:latin typeface="Calibri"/>
              </a:rPr>
              <a:t>6.1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2433"/>
                </a:solidFill>
                <a:latin typeface="Calibri"/>
              </a:rPr>
              <a:t>DBSCAN &amp; OPTICS — Density-Based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05840" cy="38100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B6075"/>
                </a:solidFill>
                <a:latin typeface="Calibri"/>
              </a:rPr>
              <a:t>Neither one needs you to choose 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544068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737360"/>
            <a:ext cx="82296" cy="4023360"/>
          </a:xfrm>
          <a:prstGeom prst="roundRect">
            <a:avLst>
              <a:gd name="adj" fmla="val 50000"/>
            </a:avLst>
          </a:prstGeom>
          <a:solidFill>
            <a:srgbClr val="4CD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865376"/>
            <a:ext cx="50383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22433"/>
                </a:solidFill>
                <a:latin typeface="Calibri"/>
              </a:rPr>
              <a:t>③ DBSCAN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249424"/>
            <a:ext cx="503834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Groups points that are densely packed together;
explicitly labels sparse points as NOISE (label -1)
rather than force-fitting them.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Two params instead of k: eps (neighborhood
radius) and min_samples.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Choosing eps: plot distance to each point's 5th
nearest neighbor, sorted — look for the “knee.”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Assumes roughly UNIFORM density across all
clusters — its one real limitation.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37360"/>
            <a:ext cx="553212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1737360"/>
            <a:ext cx="82296" cy="4023360"/>
          </a:xfrm>
          <a:prstGeom prst="roundRect">
            <a:avLst>
              <a:gd name="adj" fmla="val 50000"/>
            </a:avLst>
          </a:prstGeom>
          <a:solidFill>
            <a:srgbClr val="1FA9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865376"/>
            <a:ext cx="5129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22433"/>
                </a:solidFill>
                <a:latin typeface="Calibri"/>
              </a:rPr>
              <a:t>④ OPTICS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249424"/>
            <a:ext cx="512978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Generalizes DBSCAN across VARYING densities —
no single global eps required.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Builds a reachability plot: valleys = clusters,
peaks = separation between them.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Same noise concept as DBSCAN, but robust when
some true clusters are naturally denser than others.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Costs more compute for that flexibility.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9436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B6075"/>
                </a:solidFill>
                <a:latin typeface="Calibri"/>
              </a:rPr>
              <a:t>🔑  Bridge to 6.3: DBSCAN's “noise” = exactly the idea anomaly detection is built 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75"/>
                </a:solidFill>
                <a:latin typeface="Calibri"/>
              </a:rPr>
              <a:t>6.1 Clustering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51967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75"/>
                </a:solidFill>
                <a:latin typeface="Calibri"/>
              </a:rPr>
              <a:t>Phase 6 · Unsupervised 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6FFF"/>
                </a:solidFill>
                <a:latin typeface="Calibri"/>
              </a:rPr>
              <a:t>6.1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2433"/>
                </a:solidFill>
                <a:latin typeface="Calibri"/>
              </a:rPr>
              <a:t>Gaussian Mixture Models &amp; Mean Shift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05840" cy="38100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544068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82296" cy="4023360"/>
          </a:xfrm>
          <a:prstGeom prst="roundRect">
            <a:avLst>
              <a:gd name="adj" fmla="val 50000"/>
            </a:avLst>
          </a:prstGeom>
          <a:solidFill>
            <a:srgbClr val="C24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865376"/>
            <a:ext cx="50383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22433"/>
                </a:solidFill>
                <a:latin typeface="Calibri"/>
              </a:rPr>
              <a:t>⑤ Gaussian Mixture Model — soft clustering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249424"/>
            <a:ext cx="503834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Assumes data was generated by a MIX of several
Gaussian distributions (Module 1.3).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Gives a full PROBABILITY of membership in each
cluster, not a hard 0/1 assignment.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K-Means can't express “this customer is 45%
cluster A, 55% cluster B” — GMM can.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Useful for finding the points a model is LEAST
certain how to cluster — invisible to hard methods.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Cluster shape assumption: elliptical (Gaussian).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37360"/>
            <a:ext cx="553212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1737360"/>
            <a:ext cx="82296" cy="4023360"/>
          </a:xfrm>
          <a:prstGeom prst="roundRect">
            <a:avLst>
              <a:gd name="adj" fmla="val 50000"/>
            </a:avLst>
          </a:prstGeom>
          <a:solidFill>
            <a:srgbClr val="F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865376"/>
            <a:ext cx="5129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22433"/>
                </a:solidFill>
                <a:latin typeface="Calibri"/>
              </a:rPr>
              <a:t>⑥ Mean Shift — climb to the density peak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249424"/>
            <a:ext cx="512978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Iteratively shifts each point toward the nearest
area of highest data density (a “mode”).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Points that converge to the same mode form a
cluster — k emerges automatically from the data
(via a bandwidth parameter, not chosen directly).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No k, no fixed density assumption like DBSCAN —
but doesn't explicitly flag noise/outliers.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75"/>
                </a:solidFill>
                <a:latin typeface="Calibri"/>
              </a:rPr>
              <a:t>6.1 Clustering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51967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75"/>
                </a:solidFill>
                <a:latin typeface="Calibri"/>
              </a:rPr>
              <a:t>Phase 6 · Unsupervised ML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6FFF"/>
                </a:solidFill>
                <a:latin typeface="Calibri"/>
              </a:rPr>
              <a:t>6.1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2433"/>
                </a:solidFill>
                <a:latin typeface="Calibri"/>
              </a:rPr>
              <a:t>Six Methods, Side by Side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05840" cy="38100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B6075"/>
                </a:solidFill>
                <a:latin typeface="Calibri"/>
              </a:rPr>
              <a:t>Same 200 customers, six different definitions of “a group”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83080"/>
          <a:ext cx="11201398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924"/>
                <a:gridCol w="2387183"/>
                <a:gridCol w="2754442"/>
                <a:gridCol w="4039849"/>
              </a:tblGrid>
              <a:tr h="4049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anchor="ctr" marT="50800" marB="50800">
                    <a:solidFill>
                      <a:srgbClr val="4C6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Needs k?</a:t>
                      </a:r>
                    </a:p>
                  </a:txBody>
                  <a:tcPr anchor="ctr" marT="50800" marB="50800">
                    <a:solidFill>
                      <a:srgbClr val="4C6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Handles noise?</a:t>
                      </a:r>
                    </a:p>
                  </a:txBody>
                  <a:tcPr anchor="ctr" marT="50800" marB="50800">
                    <a:solidFill>
                      <a:srgbClr val="4C6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Cluster shape assumption</a:t>
                      </a:r>
                    </a:p>
                  </a:txBody>
                  <a:tcPr anchor="ctr" marT="50800" marB="50800">
                    <a:solidFill>
                      <a:srgbClr val="4C6FFF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433"/>
                          </a:solidFill>
                          <a:latin typeface="Calibri"/>
                        </a:rPr>
                        <a:t>K-Means</a:t>
                      </a:r>
                    </a:p>
                  </a:txBody>
                  <a:tcPr anchor="ctr"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2243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22433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22433"/>
                          </a:solidFill>
                          <a:latin typeface="Calibri"/>
                        </a:rPr>
                        <a:t>Roughly spherical, similar size</a:t>
                      </a:r>
                    </a:p>
                  </a:txBody>
                  <a:tcPr anchor="ctr" marL="101600" marT="38100" marB="38100">
                    <a:solidFill>
                      <a:srgbClr val="FFFFFF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433"/>
                          </a:solidFill>
                          <a:latin typeface="Calibri"/>
                        </a:rPr>
                        <a:t>Hierarchical</a:t>
                      </a:r>
                    </a:p>
                  </a:txBody>
                  <a:tcPr anchor="ctr" marL="101600" marT="38100" marB="38100">
                    <a:solidFill>
                      <a:srgbClr val="F2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22433"/>
                          </a:solidFill>
                          <a:latin typeface="Calibri"/>
                        </a:rPr>
                        <a:t>No (choose after)</a:t>
                      </a:r>
                    </a:p>
                  </a:txBody>
                  <a:tcPr anchor="ctr" marL="101600" marT="38100" marB="38100">
                    <a:solidFill>
                      <a:srgbClr val="F2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22433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101600" marT="38100" marB="38100">
                    <a:solidFill>
                      <a:srgbClr val="F2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22433"/>
                          </a:solidFill>
                          <a:latin typeface="Calibri"/>
                        </a:rPr>
                        <a:t>Depends on linkage method</a:t>
                      </a:r>
                    </a:p>
                  </a:txBody>
                  <a:tcPr anchor="ctr" marL="101600" marT="38100" marB="38100">
                    <a:solidFill>
                      <a:srgbClr val="F2F4F9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433"/>
                          </a:solidFill>
                          <a:latin typeface="Calibri"/>
                        </a:rPr>
                        <a:t>DBSCAN</a:t>
                      </a:r>
                    </a:p>
                  </a:txBody>
                  <a:tcPr anchor="ctr"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22433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22433"/>
                          </a:solidFill>
                          <a:latin typeface="Calibri"/>
                        </a:rPr>
                        <a:t>Yes — explicit noise label</a:t>
                      </a:r>
                    </a:p>
                  </a:txBody>
                  <a:tcPr anchor="ctr"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22433"/>
                          </a:solidFill>
                          <a:latin typeface="Calibri"/>
                        </a:rPr>
                        <a:t>Arbitrary shape, uniform density</a:t>
                      </a:r>
                    </a:p>
                  </a:txBody>
                  <a:tcPr anchor="ctr" marL="101600" marT="38100" marB="38100">
                    <a:solidFill>
                      <a:srgbClr val="FFFFFF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433"/>
                          </a:solidFill>
                          <a:latin typeface="Calibri"/>
                        </a:rPr>
                        <a:t>OPTICS</a:t>
                      </a:r>
                    </a:p>
                  </a:txBody>
                  <a:tcPr anchor="ctr" marL="101600" marT="38100" marB="38100">
                    <a:solidFill>
                      <a:srgbClr val="F2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22433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101600" marT="38100" marB="38100">
                    <a:solidFill>
                      <a:srgbClr val="F2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2243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101600" marT="38100" marB="38100">
                    <a:solidFill>
                      <a:srgbClr val="F2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22433"/>
                          </a:solidFill>
                          <a:latin typeface="Calibri"/>
                        </a:rPr>
                        <a:t>Arbitrary shape, VARYING density</a:t>
                      </a:r>
                    </a:p>
                  </a:txBody>
                  <a:tcPr anchor="ctr" marL="101600" marT="38100" marB="38100">
                    <a:solidFill>
                      <a:srgbClr val="F2F4F9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433"/>
                          </a:solidFill>
                          <a:latin typeface="Calibri"/>
                        </a:rPr>
                        <a:t>Gaussian Mixture</a:t>
                      </a:r>
                    </a:p>
                  </a:txBody>
                  <a:tcPr anchor="ctr"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2243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22433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22433"/>
                          </a:solidFill>
                          <a:latin typeface="Calibri"/>
                        </a:rPr>
                        <a:t>Elliptical (Gaussian)</a:t>
                      </a:r>
                    </a:p>
                  </a:txBody>
                  <a:tcPr anchor="ctr" marL="101600" marT="38100" marB="38100">
                    <a:solidFill>
                      <a:srgbClr val="FFFFFF"/>
                    </a:solidFill>
                  </a:tcPr>
                </a:tc>
              </a:tr>
              <a:tr h="40495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433"/>
                          </a:solidFill>
                          <a:latin typeface="Calibri"/>
                        </a:rPr>
                        <a:t>Mean Shift</a:t>
                      </a:r>
                    </a:p>
                  </a:txBody>
                  <a:tcPr anchor="ctr" marL="101600" marT="38100" marB="38100">
                    <a:solidFill>
                      <a:srgbClr val="F2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22433"/>
                          </a:solidFill>
                          <a:latin typeface="Calibri"/>
                        </a:rPr>
                        <a:t>No — auto via bandwidth</a:t>
                      </a:r>
                    </a:p>
                  </a:txBody>
                  <a:tcPr anchor="ctr" marL="101600" marT="38100" marB="38100">
                    <a:solidFill>
                      <a:srgbClr val="F2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22433"/>
                          </a:solidFill>
                          <a:latin typeface="Calibri"/>
                        </a:rPr>
                        <a:t>Not explicitly</a:t>
                      </a:r>
                    </a:p>
                  </a:txBody>
                  <a:tcPr anchor="ctr" marL="101600" marT="38100" marB="38100">
                    <a:solidFill>
                      <a:srgbClr val="F2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22433"/>
                          </a:solidFill>
                          <a:latin typeface="Calibri"/>
                        </a:rPr>
                        <a:t>Follows density peaks</a:t>
                      </a:r>
                    </a:p>
                  </a:txBody>
                  <a:tcPr anchor="ctr" marL="101600" marT="38100" marB="38100">
                    <a:solidFill>
                      <a:srgbClr val="F2F4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029200"/>
            <a:ext cx="11155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5B6075"/>
                </a:solidFill>
                <a:latin typeface="Calibri"/>
              </a:rPr>
              <a:t>Self-check before moving on: How do you choose k for K-Means, and what do elbow + silhouette each tell you?</a:t>
            </a:r>
          </a:p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5B6075"/>
                </a:solidFill>
                <a:latin typeface="Calibri"/>
              </a:rPr>
              <a:t>What does DBSCAN's -1 label mean, and why can't K-Means express that? Why doesn't Mean Shift need a chosen k?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75"/>
                </a:solidFill>
                <a:latin typeface="Calibri"/>
              </a:rPr>
              <a:t>6.1 Clustering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51967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75"/>
                </a:solidFill>
                <a:latin typeface="Calibri"/>
              </a:rPr>
              <a:t>Phase 6 · Unsupervised ML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i="0">
                <a:solidFill>
                  <a:srgbClr val="FF8A4C"/>
                </a:solidFill>
                <a:latin typeface="Calibri"/>
              </a:rPr>
              <a:t>6.2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360" y="2057400"/>
            <a:ext cx="8595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Dimensionality Reduction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78892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1">
                <a:solidFill>
                  <a:srgbClr val="C7CBDE"/>
                </a:solidFill>
                <a:latin typeface="Calibri"/>
              </a:rPr>
              <a:t>Four philosophies for compressing many features down to a handful you can actually see.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429000"/>
            <a:ext cx="1828800" cy="38100"/>
          </a:xfrm>
          <a:prstGeom prst="rect">
            <a:avLst/>
          </a:prstGeom>
          <a:solidFill>
            <a:srgbClr val="F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26080" y="3794760"/>
            <a:ext cx="6035040" cy="566928"/>
          </a:xfrm>
          <a:prstGeom prst="roundRect">
            <a:avLst>
              <a:gd name="adj" fmla="val 50000"/>
            </a:avLst>
          </a:prstGeom>
          <a:solidFill>
            <a:srgbClr val="22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3794760"/>
            <a:ext cx="5577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📊  Dataset: Wine — 178 samples, 13 chemical measurements, 3 known cultivars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4480560"/>
            <a:ext cx="6035040" cy="566928"/>
          </a:xfrm>
          <a:prstGeom prst="roundRect">
            <a:avLst>
              <a:gd name="adj" fmla="val 50000"/>
            </a:avLst>
          </a:prstGeom>
          <a:solidFill>
            <a:srgbClr val="22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4480560"/>
            <a:ext cx="5577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📓  Notebook: 01_dimensionality_reduction.ipynb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8FA8"/>
                </a:solidFill>
                <a:latin typeface="Calibri"/>
              </a:rPr>
              <a:t>Phase 6 — Unsupervised Learning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8A4C"/>
                </a:solidFill>
                <a:latin typeface="Calibri"/>
              </a:rPr>
              <a:t>6.2 DIMENSIONALITY REDUCTION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2433"/>
                </a:solidFill>
                <a:latin typeface="Calibri"/>
              </a:rPr>
              <a:t>Why This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05840" cy="38100"/>
          </a:xfrm>
          <a:prstGeom prst="rect">
            <a:avLst/>
          </a:prstGeom>
          <a:solidFill>
            <a:srgbClr val="F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356616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82296" cy="2926080"/>
          </a:xfrm>
          <a:prstGeom prst="roundRect">
            <a:avLst>
              <a:gd name="adj" fmla="val 50000"/>
            </a:avLst>
          </a:prstGeom>
          <a:solidFill>
            <a:srgbClr val="F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865376"/>
            <a:ext cx="31638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2433"/>
                </a:solidFill>
                <a:latin typeface="Calibri"/>
              </a:rPr>
              <a:t>🎯  The core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249424"/>
            <a:ext cx="316382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You can't plot 13 dimensions.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C(13,2) = 78 possible pairwise
scatter plots — nobody looks
at 78 charts one at a time.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Many algorithms also degrade in
high dimensions (the curse of
dimensionality, Section 4.1).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737360"/>
            <a:ext cx="356616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51960" y="1737360"/>
            <a:ext cx="82296" cy="2926080"/>
          </a:xfrm>
          <a:prstGeom prst="roundRect">
            <a:avLst>
              <a:gd name="adj" fmla="val 50000"/>
            </a:avLst>
          </a:prstGeom>
          <a:solidFill>
            <a:srgbClr val="6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865376"/>
            <a:ext cx="31638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2433"/>
                </a:solidFill>
                <a:latin typeface="Calibri"/>
              </a:rPr>
              <a:t>🌉  Bridges forward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2249424"/>
            <a:ext cx="316382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PCA = practical payoff of Module
1.1's eigendecomposition.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t-SNE/UMAP are the standard tools
for word/image embeddings
(Phase 11-12).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Autoencoders are your first
trained neural compressor —
direct bridge into Phase 9.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737360"/>
            <a:ext cx="370332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01000" y="1737360"/>
            <a:ext cx="82296" cy="2926080"/>
          </a:xfrm>
          <a:prstGeom prst="roundRect">
            <a:avLst>
              <a:gd name="adj" fmla="val 50000"/>
            </a:avLst>
          </a:prstGeom>
          <a:solidFill>
            <a:srgbClr val="4CD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1865376"/>
            <a:ext cx="33009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2433"/>
                </a:solidFill>
                <a:latin typeface="Calibri"/>
              </a:rPr>
              <a:t>🍷  Why Wine is the perfect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249424"/>
            <a:ext cx="330098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178 wines, 13 chemical features,
and a KNOWN cultivar (1, 2, or 3).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Lets us check whether reduction
preserves TRUE structure — we
can compare against ground truth
the algorithm never sees.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892040"/>
            <a:ext cx="11155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222433"/>
                </a:solidFill>
                <a:latin typeface="Calibri"/>
              </a:rPr>
              <a:t>Real result: PCA's first 2 components (of 13 original features) capture 36.2% + 19.2% = 55.4% of total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222433"/>
                </a:solidFill>
                <a:latin typeface="Calibri"/>
              </a:rPr>
              <a:t>variance — and the 3 true cultivars still separate cleanly, even though PCA never saw the labels.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75"/>
                </a:solidFill>
                <a:latin typeface="Calibri"/>
              </a:rPr>
              <a:t>6.2 Dimensionality Reduction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51967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75"/>
                </a:solidFill>
                <a:latin typeface="Calibri"/>
              </a:rPr>
              <a:t>Phase 6 · Unsupervised ML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8A4C"/>
                </a:solidFill>
                <a:latin typeface="Calibri"/>
              </a:rPr>
              <a:t>6.2 DIMENSIONALITY REDUCTION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2433"/>
                </a:solidFill>
                <a:latin typeface="Calibri"/>
              </a:rPr>
              <a:t>Four Philosophies, One Goal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05840" cy="38100"/>
          </a:xfrm>
          <a:prstGeom prst="rect">
            <a:avLst/>
          </a:prstGeom>
          <a:solidFill>
            <a:srgbClr val="F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6587" y="1691640"/>
            <a:ext cx="2514600" cy="1188720"/>
          </a:xfrm>
          <a:prstGeom prst="roundRect">
            <a:avLst>
              <a:gd name="adj" fmla="val 14000"/>
            </a:avLst>
          </a:prstGeom>
          <a:solidFill>
            <a:srgbClr val="F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9739" y="1819656"/>
            <a:ext cx="23682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PCA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739" y="2167128"/>
            <a:ext cx="23682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Linear projection,</a:t>
            </a:r>
          </a:p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maximize variance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1227" y="1691640"/>
            <a:ext cx="2514600" cy="1188720"/>
          </a:xfrm>
          <a:prstGeom prst="roundRect">
            <a:avLst>
              <a:gd name="adj" fmla="val 14000"/>
            </a:avLst>
          </a:prstGeom>
          <a:solidFill>
            <a:srgbClr val="4CD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4379" y="1819656"/>
            <a:ext cx="23682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t-SNE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4379" y="2167128"/>
            <a:ext cx="23682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Non-linear, preserve</a:t>
            </a:r>
          </a:p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LOCAL neighbors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5867" y="1691640"/>
            <a:ext cx="2514600" cy="1188720"/>
          </a:xfrm>
          <a:prstGeom prst="roundRect">
            <a:avLst>
              <a:gd name="adj" fmla="val 14000"/>
            </a:avLst>
          </a:prstGeom>
          <a:solidFill>
            <a:srgbClr val="F5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9019" y="1819656"/>
            <a:ext cx="23682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UMAP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9019" y="2167128"/>
            <a:ext cx="23682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Non-linear, local +</a:t>
            </a:r>
          </a:p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some global structure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0507" y="1691640"/>
            <a:ext cx="2514600" cy="1188720"/>
          </a:xfrm>
          <a:prstGeom prst="roundRect">
            <a:avLst>
              <a:gd name="adj" fmla="val 14000"/>
            </a:avLst>
          </a:prstGeom>
          <a:solidFill>
            <a:srgbClr val="C24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63659" y="1819656"/>
            <a:ext cx="23682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Autoencoder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3659" y="2167128"/>
            <a:ext cx="23682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Neural net learns its</a:t>
            </a:r>
          </a:p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OWN compression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101187" y="2286000.0"/>
            <a:ext cx="320040" cy="0.0"/>
          </a:xfrm>
          <a:prstGeom prst="line">
            <a:avLst/>
          </a:prstGeom>
          <a:ln w="25400">
            <a:solidFill>
              <a:srgbClr val="5B607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935827" y="2286000.0"/>
            <a:ext cx="320040" cy="0.0"/>
          </a:xfrm>
          <a:prstGeom prst="line">
            <a:avLst/>
          </a:prstGeom>
          <a:ln w="25400">
            <a:solidFill>
              <a:srgbClr val="5B607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770467" y="2286000.0"/>
            <a:ext cx="320040" cy="0.0"/>
          </a:xfrm>
          <a:prstGeom prst="line">
            <a:avLst/>
          </a:prstGeom>
          <a:ln w="25400">
            <a:solidFill>
              <a:srgbClr val="5B607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02920" y="3383280"/>
          <a:ext cx="11201398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2434"/>
                <a:gridCol w="2322241"/>
                <a:gridCol w="2322241"/>
                <a:gridCol w="2322241"/>
                <a:gridCol w="2322241"/>
              </a:tblGrid>
              <a:tr h="530352"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 marT="50800" marB="50800">
                    <a:solidFill>
                      <a:srgbClr val="FF8A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PCA</a:t>
                      </a:r>
                    </a:p>
                  </a:txBody>
                  <a:tcPr anchor="ctr" marT="50800" marB="50800">
                    <a:solidFill>
                      <a:srgbClr val="FF8A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t-SNE</a:t>
                      </a:r>
                    </a:p>
                  </a:txBody>
                  <a:tcPr anchor="ctr" marT="50800" marB="50800">
                    <a:solidFill>
                      <a:srgbClr val="FF8A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UMAP</a:t>
                      </a:r>
                    </a:p>
                  </a:txBody>
                  <a:tcPr anchor="ctr" marT="50800" marB="50800">
                    <a:solidFill>
                      <a:srgbClr val="FF8A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Autoencoder</a:t>
                      </a:r>
                    </a:p>
                  </a:txBody>
                  <a:tcPr anchor="ctr" marT="50800" marB="50800">
                    <a:solidFill>
                      <a:srgbClr val="FF8A4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22433"/>
                          </a:solidFill>
                          <a:latin typeface="Calibri"/>
                        </a:rPr>
                        <a:t>Linear?</a:t>
                      </a:r>
                    </a:p>
                  </a:txBody>
                  <a:tcPr anchor="ctr"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43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433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433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433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101600" marT="38100" marB="3810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22433"/>
                          </a:solidFill>
                          <a:latin typeface="Calibri"/>
                        </a:rPr>
                        <a:t>Preserves</a:t>
                      </a:r>
                    </a:p>
                  </a:txBody>
                  <a:tcPr anchor="ctr" marL="101600" marT="38100" marB="38100">
                    <a:solidFill>
                      <a:srgbClr val="F2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433"/>
                          </a:solidFill>
                          <a:latin typeface="Calibri"/>
                        </a:rPr>
                        <a:t>Global variance</a:t>
                      </a:r>
                    </a:p>
                  </a:txBody>
                  <a:tcPr anchor="ctr" marL="101600" marT="38100" marB="38100">
                    <a:solidFill>
                      <a:srgbClr val="F2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433"/>
                          </a:solidFill>
                          <a:latin typeface="Calibri"/>
                        </a:rPr>
                        <a:t>Local neighborhoods</a:t>
                      </a:r>
                    </a:p>
                  </a:txBody>
                  <a:tcPr anchor="ctr" marL="101600" marT="38100" marB="38100">
                    <a:solidFill>
                      <a:srgbClr val="F2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433"/>
                          </a:solidFill>
                          <a:latin typeface="Calibri"/>
                        </a:rPr>
                        <a:t>Local + some global</a:t>
                      </a:r>
                    </a:p>
                  </a:txBody>
                  <a:tcPr anchor="ctr" marL="101600" marT="38100" marB="38100">
                    <a:solidFill>
                      <a:srgbClr val="F2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433"/>
                          </a:solidFill>
                          <a:latin typeface="Calibri"/>
                        </a:rPr>
                        <a:t>Whatever minimizes</a:t>
                      </a:r>
                    </a:p>
                    <a:p>
                      <a:r>
                        <a:t>reconstruction error</a:t>
                      </a:r>
                    </a:p>
                  </a:txBody>
                  <a:tcPr anchor="ctr" marL="101600" marT="38100" marB="38100">
                    <a:solidFill>
                      <a:srgbClr val="F2F4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22433"/>
                          </a:solidFill>
                          <a:latin typeface="Calibri"/>
                        </a:rPr>
                        <a:t>Transform NEW points?</a:t>
                      </a:r>
                    </a:p>
                  </a:txBody>
                  <a:tcPr anchor="ctr"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43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433"/>
                          </a:solidFill>
                          <a:latin typeface="Calibri"/>
                        </a:rPr>
                        <a:t>No — must refit</a:t>
                      </a:r>
                    </a:p>
                  </a:txBody>
                  <a:tcPr anchor="ctr"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43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43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101600" marT="38100" marB="3810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22433"/>
                          </a:solidFill>
                          <a:latin typeface="Calibri"/>
                        </a:rPr>
                        <a:t>Best for</a:t>
                      </a:r>
                    </a:p>
                  </a:txBody>
                  <a:tcPr anchor="ctr" marL="101600" marT="38100" marB="38100">
                    <a:solidFill>
                      <a:srgbClr val="F2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433"/>
                          </a:solidFill>
                          <a:latin typeface="Calibri"/>
                        </a:rPr>
                        <a:t>General preprocessing,</a:t>
                      </a:r>
                    </a:p>
                    <a:p>
                      <a:r>
                        <a:t>interpretable axes</a:t>
                      </a:r>
                    </a:p>
                  </a:txBody>
                  <a:tcPr anchor="ctr" marL="101600" marT="38100" marB="38100">
                    <a:solidFill>
                      <a:srgbClr val="F2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433"/>
                          </a:solidFill>
                          <a:latin typeface="Calibri"/>
                        </a:rPr>
                        <a:t>Visualization only</a:t>
                      </a:r>
                    </a:p>
                  </a:txBody>
                  <a:tcPr anchor="ctr" marL="101600" marT="38100" marB="38100">
                    <a:solidFill>
                      <a:srgbClr val="F2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433"/>
                          </a:solidFill>
                          <a:latin typeface="Calibri"/>
                        </a:rPr>
                        <a:t>Visualization + some</a:t>
                      </a:r>
                    </a:p>
                    <a:p>
                      <a:r>
                        <a:t>preprocessing</a:t>
                      </a:r>
                    </a:p>
                  </a:txBody>
                  <a:tcPr anchor="ctr" marL="101600" marT="38100" marB="38100">
                    <a:solidFill>
                      <a:srgbClr val="F2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22433"/>
                          </a:solidFill>
                          <a:latin typeface="Calibri"/>
                        </a:rPr>
                        <a:t>Large, non-linear data</a:t>
                      </a:r>
                    </a:p>
                    <a:p>
                      <a:r>
                        <a:t>(e.g. images)</a:t>
                      </a:r>
                    </a:p>
                  </a:txBody>
                  <a:tcPr anchor="ctr" marL="101600" marT="38100" marB="38100">
                    <a:solidFill>
                      <a:srgbClr val="F2F4F9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75"/>
                </a:solidFill>
                <a:latin typeface="Calibri"/>
              </a:rPr>
              <a:t>6.2 Dimensionality Reduction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51967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75"/>
                </a:solidFill>
                <a:latin typeface="Calibri"/>
              </a:rPr>
              <a:t>Phase 6 · Unsupervised ML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8A4C"/>
                </a:solidFill>
                <a:latin typeface="Calibri"/>
              </a:rPr>
              <a:t>6.2 DIMENSIONALITY REDUCTION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2433"/>
                </a:solidFill>
                <a:latin typeface="Calibri"/>
              </a:rPr>
              <a:t>PCA — Revisiting Module 1.1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05840" cy="38100"/>
          </a:xfrm>
          <a:prstGeom prst="rect">
            <a:avLst/>
          </a:prstGeom>
          <a:solidFill>
            <a:srgbClr val="F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626364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82296" cy="4023360"/>
          </a:xfrm>
          <a:prstGeom prst="roundRect">
            <a:avLst>
              <a:gd name="adj" fmla="val 50000"/>
            </a:avLst>
          </a:prstGeom>
          <a:solidFill>
            <a:srgbClr val="F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865376"/>
            <a:ext cx="58613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22433"/>
                </a:solidFill>
                <a:latin typeface="Calibri"/>
              </a:rP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249424"/>
            <a:ext cx="586130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5B6075"/>
                </a:solidFill>
                <a:latin typeface="Calibri"/>
              </a:rPr>
              <a:t>›  Center the data → eigen-decompose the
covariance matrix → project onto the top
eigenvectors (principal components).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5B6075"/>
                </a:solidFill>
                <a:latin typeface="Calibri"/>
              </a:rPr>
              <a:t>›  “Explained variance ratio” = how much of the
total spread each component captures.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5B6075"/>
                </a:solidFill>
                <a:latin typeface="Calibri"/>
              </a:rPr>
              <a:t>›  PCA loadings show WHICH original features
make up PC1 vs PC2 — it stays interpretable.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5B6075"/>
                </a:solidFill>
                <a:latin typeface="Calibri"/>
              </a:rPr>
              <a:t>›  PCA never sees the cultivar label — it only
looks at variance in the 13 chemical features.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95160" y="1737360"/>
            <a:ext cx="1874519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995160" y="1737360"/>
            <a:ext cx="1874519" cy="54864"/>
          </a:xfrm>
          <a:prstGeom prst="roundRect">
            <a:avLst/>
          </a:prstGeom>
          <a:solidFill>
            <a:srgbClr val="F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1901952"/>
            <a:ext cx="18745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FF8A4C"/>
                </a:solidFill>
                <a:latin typeface="Calibri"/>
              </a:rPr>
              <a:t>36.2%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514600"/>
            <a:ext cx="16916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075"/>
                </a:solidFill>
                <a:latin typeface="Calibri"/>
              </a:rPr>
              <a:t>variance explained</a:t>
            </a: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075"/>
                </a:solidFill>
                <a:latin typeface="Calibri"/>
              </a:rPr>
              <a:t>by PC1 alone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737360"/>
            <a:ext cx="1874519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61120" y="1737360"/>
            <a:ext cx="1874519" cy="54864"/>
          </a:xfrm>
          <a:prstGeom prst="roundRect">
            <a:avLst/>
          </a:prstGeom>
          <a:solidFill>
            <a:srgbClr val="F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1901952"/>
            <a:ext cx="18745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FF8A4C"/>
                </a:solidFill>
                <a:latin typeface="Calibri"/>
              </a:rPr>
              <a:t>55.4%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514600"/>
            <a:ext cx="16916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075"/>
                </a:solidFill>
                <a:latin typeface="Calibri"/>
              </a:rPr>
              <a:t>combined, PC1 + PC2</a:t>
            </a: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075"/>
                </a:solidFill>
                <a:latin typeface="Calibri"/>
              </a:rPr>
              <a:t>(from 13 features)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95160" y="3794760"/>
            <a:ext cx="1874519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995160" y="3794760"/>
            <a:ext cx="1874519" cy="54864"/>
          </a:xfrm>
          <a:prstGeom prst="roundRect">
            <a:avLst/>
          </a:prstGeom>
          <a:solidFill>
            <a:srgbClr val="F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5160" y="3959352"/>
            <a:ext cx="18745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FF8A4C"/>
                </a:solidFill>
                <a:latin typeface="Calibri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4572000"/>
            <a:ext cx="16916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075"/>
                </a:solidFill>
                <a:latin typeface="Calibri"/>
              </a:rPr>
              <a:t>components needed</a:t>
            </a: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075"/>
                </a:solidFill>
                <a:latin typeface="Calibri"/>
              </a:rPr>
              <a:t>to keep 95% of variance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3794760"/>
            <a:ext cx="1874519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61120" y="3794760"/>
            <a:ext cx="1874519" cy="54864"/>
          </a:xfrm>
          <a:prstGeom prst="roundRect">
            <a:avLst/>
          </a:prstGeom>
          <a:solidFill>
            <a:srgbClr val="F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0" y="3959352"/>
            <a:ext cx="18745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FF8A4C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4572000"/>
            <a:ext cx="16916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075"/>
                </a:solidFill>
                <a:latin typeface="Calibri"/>
              </a:rPr>
              <a:t>true cultivars still</a:t>
            </a: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075"/>
                </a:solidFill>
                <a:latin typeface="Calibri"/>
              </a:rPr>
              <a:t>separate cleanly in 2D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75"/>
                </a:solidFill>
                <a:latin typeface="Calibri"/>
              </a:rPr>
              <a:t>6.2 Dimensionality Reduction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651967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75"/>
                </a:solidFill>
                <a:latin typeface="Calibri"/>
              </a:rPr>
              <a:t>Phase 6 · Unsupervised ML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8A4C"/>
                </a:solidFill>
                <a:latin typeface="Calibri"/>
              </a:rPr>
              <a:t>6.2 DIMENSIONALITY REDUCTION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2433"/>
                </a:solidFill>
                <a:latin typeface="Calibri"/>
              </a:rPr>
              <a:t>t-SNE &amp; UMAP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05840" cy="38100"/>
          </a:xfrm>
          <a:prstGeom prst="rect">
            <a:avLst/>
          </a:prstGeom>
          <a:solidFill>
            <a:srgbClr val="F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B6075"/>
                </a:solidFill>
                <a:latin typeface="Calibri"/>
              </a:rPr>
              <a:t>Both non-linear — built to preserve neighborhoods PCA can't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544068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737360"/>
            <a:ext cx="82296" cy="4114800"/>
          </a:xfrm>
          <a:prstGeom prst="roundRect">
            <a:avLst>
              <a:gd name="adj" fmla="val 50000"/>
            </a:avLst>
          </a:prstGeom>
          <a:solidFill>
            <a:srgbClr val="6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865376"/>
            <a:ext cx="50383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22433"/>
                </a:solidFill>
                <a:latin typeface="Calibri"/>
              </a:rPr>
              <a:t>t-SNE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249424"/>
            <a:ext cx="503834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Tries to keep points that were close in the
original 13D space close in the 2D map — even if
that requires non-linear bending/stretching.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perplexity (roughly “how many neighbors to
consider”) is its most important hyperparameter —
try 5, 30, 100 and compare.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⚠ THE trap: distances BETWEEN clusters and
cluster SIZES are NOT meaningful on a t-SNE plot —
only which points ended up near each other locally.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Built for visualization only — can't transform new
points without a full refit.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37360"/>
            <a:ext cx="553212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1737360"/>
            <a:ext cx="82296" cy="4114800"/>
          </a:xfrm>
          <a:prstGeom prst="roundRect">
            <a:avLst>
              <a:gd name="adj" fmla="val 50000"/>
            </a:avLst>
          </a:prstGeom>
          <a:solidFill>
            <a:srgbClr val="4CD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865376"/>
            <a:ext cx="5129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22433"/>
                </a:solidFill>
                <a:latin typeface="Calibri"/>
              </a:rPr>
              <a:t>UMAP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249424"/>
            <a:ext cx="512978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Different mathematical foundation (topology-
based) solving a similar problem to t-SNE.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Typically FASTER on large datasets.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Often preserves more GLOBAL structure
(e.g. relative distances between clusters)
alongside local neighborhoods.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CAN transform new points after fitting —
an advantage over t-SNE for production use.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n_neighbors plays a similar role to t-SNE's
perplexity — small values emphasize local
structure, large values more global structure.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75"/>
                </a:solidFill>
                <a:latin typeface="Calibri"/>
              </a:rPr>
              <a:t>6.2 Dimensionality Reduction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51967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75"/>
                </a:solidFill>
                <a:latin typeface="Calibri"/>
              </a:rPr>
              <a:t>Phase 6 · Unsupervised ML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8A4C"/>
                </a:solidFill>
                <a:latin typeface="Calibri"/>
              </a:rPr>
              <a:t>6.2 DIMENSIONALITY REDUCTION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2433"/>
                </a:solidFill>
                <a:latin typeface="Calibri"/>
              </a:rPr>
              <a:t>Autoencoders — Learned Compression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05840" cy="38100"/>
          </a:xfrm>
          <a:prstGeom prst="rect">
            <a:avLst/>
          </a:prstGeom>
          <a:solidFill>
            <a:srgbClr val="F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222433"/>
                </a:solidFill>
                <a:latin typeface="Calibri"/>
              </a:rPr>
              <a:t>A neural network trained to reconstruct its OWN input, forced through a narrow “bottleneck” layer — that bottleneck IS the compressed representation.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3747" y="2514600"/>
            <a:ext cx="1965960" cy="1051560"/>
          </a:xfrm>
          <a:prstGeom prst="roundRect">
            <a:avLst>
              <a:gd name="adj" fmla="val 14000"/>
            </a:avLst>
          </a:prstGeom>
          <a:solidFill>
            <a:srgbClr val="F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6899" y="2642616"/>
            <a:ext cx="18196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6899" y="2990088"/>
            <a:ext cx="18196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13 features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18307" y="2514600"/>
            <a:ext cx="1965960" cy="1051560"/>
          </a:xfrm>
          <a:prstGeom prst="roundRect">
            <a:avLst>
              <a:gd name="adj" fmla="val 14000"/>
            </a:avLst>
          </a:prstGeom>
          <a:solidFill>
            <a:srgbClr val="6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1459" y="2642616"/>
            <a:ext cx="18196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Encoder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1459" y="2990088"/>
            <a:ext cx="18196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13 → 8 → 2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(ReLU)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12867" y="2514600"/>
            <a:ext cx="1965960" cy="1051560"/>
          </a:xfrm>
          <a:prstGeom prst="roundRect">
            <a:avLst>
              <a:gd name="adj" fmla="val 14000"/>
            </a:avLst>
          </a:prstGeom>
          <a:solidFill>
            <a:srgbClr val="16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86019" y="2642616"/>
            <a:ext cx="18196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Bottleneck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6019" y="2990088"/>
            <a:ext cx="18196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2D learned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compression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07427" y="2514600"/>
            <a:ext cx="1965960" cy="1051560"/>
          </a:xfrm>
          <a:prstGeom prst="roundRect">
            <a:avLst>
              <a:gd name="adj" fmla="val 14000"/>
            </a:avLst>
          </a:prstGeom>
          <a:solidFill>
            <a:srgbClr val="6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80579" y="2642616"/>
            <a:ext cx="18196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Decoder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80579" y="2990088"/>
            <a:ext cx="18196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2 → 8 → 13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(ReLU)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1987" y="2514600"/>
            <a:ext cx="1965960" cy="1051560"/>
          </a:xfrm>
          <a:prstGeom prst="roundRect">
            <a:avLst>
              <a:gd name="adj" fmla="val 14000"/>
            </a:avLst>
          </a:prstGeom>
          <a:solidFill>
            <a:srgbClr val="F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75139" y="2642616"/>
            <a:ext cx="18196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Reconstructed</a:t>
            </a:r>
          </a:p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75139" y="2990088"/>
            <a:ext cx="18196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compare to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original input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689707" y="3040380.0"/>
            <a:ext cx="228600" cy="0.0"/>
          </a:xfrm>
          <a:prstGeom prst="line">
            <a:avLst/>
          </a:prstGeom>
          <a:ln w="25400">
            <a:solidFill>
              <a:srgbClr val="5B607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884267" y="3040380.0"/>
            <a:ext cx="228600" cy="0.0"/>
          </a:xfrm>
          <a:prstGeom prst="line">
            <a:avLst/>
          </a:prstGeom>
          <a:ln w="25400">
            <a:solidFill>
              <a:srgbClr val="5B607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078827" y="3040380.0"/>
            <a:ext cx="228600" cy="0.0"/>
          </a:xfrm>
          <a:prstGeom prst="line">
            <a:avLst/>
          </a:prstGeom>
          <a:ln w="25400">
            <a:solidFill>
              <a:srgbClr val="5B607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273387" y="3040380.0"/>
            <a:ext cx="228600" cy="0.0"/>
          </a:xfrm>
          <a:prstGeom prst="line">
            <a:avLst/>
          </a:prstGeom>
          <a:ln w="25400">
            <a:solidFill>
              <a:srgbClr val="5B607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02920" y="4023360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4023360"/>
            <a:ext cx="82296" cy="1874519"/>
          </a:xfrm>
          <a:prstGeom prst="roundRect">
            <a:avLst>
              <a:gd name="adj" fmla="val 50000"/>
            </a:avLst>
          </a:prstGeom>
          <a:solidFill>
            <a:srgbClr val="F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4151376"/>
            <a:ext cx="50383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22433"/>
                </a:solidFill>
                <a:latin typeface="Calibri"/>
              </a:rPr>
              <a:t>Training = Module 1.5's gradient descent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4535424"/>
            <a:ext cx="5038344" cy="132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Loss = reconstruction MSE (how different is the
output from the original input).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300 epochs, Adam optimizer — loss curve drops
smoothly just like any other trained network.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4023360"/>
            <a:ext cx="55321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172200" y="4023360"/>
            <a:ext cx="82296" cy="1874519"/>
          </a:xfrm>
          <a:prstGeom prst="roundRect">
            <a:avLst>
              <a:gd name="adj" fmla="val 50000"/>
            </a:avLst>
          </a:prstGeom>
          <a:solidFill>
            <a:srgbClr val="6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3368" y="4151376"/>
            <a:ext cx="5129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22433"/>
                </a:solidFill>
                <a:latin typeface="Calibri"/>
              </a:rPr>
              <a:t>Why bother, if PCA is simpler?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3368" y="4535424"/>
            <a:ext cx="5129784" cy="132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PCA can only find LINEAR combinations of
features. An autoencoder's non-linear activations
can learn arbitrarily non-linear compressions.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On small/simple data (Wine) PCA already wins on
simplicity — autoencoders earn their complexity
on large, non-linear data like images (Phase 10).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75"/>
                </a:solidFill>
                <a:latin typeface="Calibri"/>
              </a:rPr>
              <a:t>6.2 Dimensionality Reduction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651967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75"/>
                </a:solidFill>
                <a:latin typeface="Calibri"/>
              </a:rPr>
              <a:t>Phase 6 · Unsupervised ML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i="0">
                <a:solidFill>
                  <a:srgbClr val="1FA963"/>
                </a:solidFill>
                <a:latin typeface="Calibri"/>
              </a:rPr>
              <a:t>6.3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360" y="2057400"/>
            <a:ext cx="8595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Anomaly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78892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1">
                <a:solidFill>
                  <a:srgbClr val="C7CBDE"/>
                </a:solidFill>
                <a:latin typeface="Calibri"/>
              </a:rPr>
              <a:t>Learn what NORMAL looks like, then flag deviations — no fraud labels needed to train.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429000"/>
            <a:ext cx="1828800" cy="38100"/>
          </a:xfrm>
          <a:prstGeom prst="rect">
            <a:avLst/>
          </a:prstGeom>
          <a:solidFill>
            <a:srgbClr val="1FA9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26080" y="3794760"/>
            <a:ext cx="6035040" cy="566928"/>
          </a:xfrm>
          <a:prstGeom prst="roundRect">
            <a:avLst>
              <a:gd name="adj" fmla="val 50000"/>
            </a:avLst>
          </a:prstGeom>
          <a:solidFill>
            <a:srgbClr val="22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3794760"/>
            <a:ext cx="5577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📊  Dataset: Credit Card Fraud — 284,807 transactions, 492 confirmed fraud (0.17%)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4480560"/>
            <a:ext cx="6035040" cy="566928"/>
          </a:xfrm>
          <a:prstGeom prst="roundRect">
            <a:avLst>
              <a:gd name="adj" fmla="val 50000"/>
            </a:avLst>
          </a:prstGeom>
          <a:solidFill>
            <a:srgbClr val="22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4480560"/>
            <a:ext cx="5577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📓  Notebook: 01_anomaly_detection.ipynb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8FA8"/>
                </a:solidFill>
                <a:latin typeface="Calibri"/>
              </a:rPr>
              <a:t>Phase 6 — Unsupervised Learning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A963"/>
                </a:solidFill>
                <a:latin typeface="Calibri"/>
              </a:rPr>
              <a:t>6.3 ANOMALY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2433"/>
                </a:solidFill>
                <a:latin typeface="Calibri"/>
              </a:rPr>
              <a:t>Why This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05840" cy="38100"/>
          </a:xfrm>
          <a:prstGeom prst="rect">
            <a:avLst/>
          </a:prstGeom>
          <a:solidFill>
            <a:srgbClr val="1FA9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54406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82296" cy="2286000"/>
          </a:xfrm>
          <a:prstGeom prst="roundRect">
            <a:avLst>
              <a:gd name="adj" fmla="val 50000"/>
            </a:avLst>
          </a:prstGeom>
          <a:solidFill>
            <a:srgbClr val="4CD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865376"/>
            <a:ext cx="50383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22433"/>
                </a:solidFill>
                <a:latin typeface="Calibri"/>
              </a:rPr>
              <a:t>🎯  Real-world payoff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249424"/>
            <a:ext cx="503834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5B6075"/>
                </a:solidFill>
                <a:latin typeface="Calibri"/>
              </a:rPr>
              <a:t>›  The standard FIRST line of defense in real
fraud/intrusion detection — used before or
alongside any supervised model.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5B6075"/>
                </a:solidFill>
                <a:latin typeface="Calibri"/>
              </a:rPr>
              <a:t>›  Phase 5's Credit Risk project needed labeled
defaults. Real fraud detection often starts with
almost NO confirmed labels.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37360"/>
            <a:ext cx="55321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1737360"/>
            <a:ext cx="82296" cy="2286000"/>
          </a:xfrm>
          <a:prstGeom prst="roundRect">
            <a:avLst>
              <a:gd name="adj" fmla="val 50000"/>
            </a:avLst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865376"/>
            <a:ext cx="5129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22433"/>
                </a:solidFill>
                <a:latin typeface="Calibri"/>
              </a:rPr>
              <a:t>🌉  Bridges backward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249424"/>
            <a:ext cx="512978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5B6075"/>
                </a:solidFill>
                <a:latin typeface="Calibri"/>
              </a:rPr>
              <a:t>›  LOF's local-density idea is DBSCAN (6.1)
repurposed for SCORING instead of grouping.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5B6075"/>
                </a:solidFill>
                <a:latin typeface="Calibri"/>
              </a:rPr>
              <a:t>›  The two sections directly reinforce each other —
same math, different question being asked.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206240"/>
            <a:ext cx="274320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4206240"/>
            <a:ext cx="2743200" cy="54864"/>
          </a:xfrm>
          <a:prstGeom prst="roundRect">
            <a:avLst/>
          </a:prstGeom>
          <a:solidFill>
            <a:srgbClr val="1FA9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370832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1FA963"/>
                </a:solidFill>
                <a:latin typeface="Calibri"/>
              </a:rPr>
              <a:t>284,807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983480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075"/>
                </a:solidFill>
                <a:latin typeface="Calibri"/>
              </a:rPr>
              <a:t>real anonymized European</a:t>
            </a: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075"/>
                </a:solidFill>
                <a:latin typeface="Calibri"/>
              </a:rPr>
              <a:t>transactions, Sept. 2013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9000" y="4206240"/>
            <a:ext cx="274320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29000" y="4206240"/>
            <a:ext cx="2743200" cy="54864"/>
          </a:xfrm>
          <a:prstGeom prst="roundRect">
            <a:avLst/>
          </a:prstGeom>
          <a:solidFill>
            <a:srgbClr val="1FA9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9000" y="4370832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1FA963"/>
                </a:solidFill>
                <a:latin typeface="Calibri"/>
              </a:rPr>
              <a:t>492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4983480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075"/>
                </a:solidFill>
                <a:latin typeface="Calibri"/>
              </a:rPr>
              <a:t>confirmed fraud cases —</a:t>
            </a: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075"/>
                </a:solidFill>
                <a:latin typeface="Calibri"/>
              </a:rPr>
              <a:t>one of the most famous</a:t>
            </a: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075"/>
                </a:solidFill>
                <a:latin typeface="Calibri"/>
              </a:rPr>
              <a:t>imbalanced datasets in ML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4206240"/>
            <a:ext cx="274320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80" y="4206240"/>
            <a:ext cx="2743200" cy="54864"/>
          </a:xfrm>
          <a:prstGeom prst="roundRect">
            <a:avLst/>
          </a:prstGeom>
          <a:solidFill>
            <a:srgbClr val="1FA9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4370832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1FA963"/>
                </a:solidFill>
                <a:latin typeface="Calibri"/>
              </a:rPr>
              <a:t>0.17%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983480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075"/>
                </a:solidFill>
                <a:latin typeface="Calibri"/>
              </a:rPr>
              <a:t>of all transactions</a:t>
            </a: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075"/>
                </a:solidFill>
                <a:latin typeface="Calibri"/>
              </a:rPr>
              <a:t>are fraud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4206240"/>
            <a:ext cx="242316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281160" y="4206240"/>
            <a:ext cx="2423160" cy="54864"/>
          </a:xfrm>
          <a:prstGeom prst="roundRect">
            <a:avLst/>
          </a:prstGeom>
          <a:solidFill>
            <a:srgbClr val="1FA9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1160" y="4370832"/>
            <a:ext cx="2423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1FA963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498348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075"/>
                </a:solidFill>
                <a:latin typeface="Calibri"/>
              </a:rPr>
              <a:t>unsupervised methods</a:t>
            </a: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075"/>
                </a:solidFill>
                <a:latin typeface="Calibri"/>
              </a:rPr>
              <a:t>compared head-to-head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75"/>
                </a:solidFill>
                <a:latin typeface="Calibri"/>
              </a:rPr>
              <a:t>6.3 Anomaly Detection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651967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75"/>
                </a:solidFill>
                <a:latin typeface="Calibri"/>
              </a:rPr>
              <a:t>Phase 6 · Unsupervised ML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A963"/>
                </a:solidFill>
                <a:latin typeface="Calibri"/>
              </a:rPr>
              <a:t>6.3 ANOMALY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2433"/>
                </a:solidFill>
                <a:latin typeface="Calibri"/>
              </a:rPr>
              <a:t>Three Ways to Define “Abnormal”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05840" cy="38100"/>
          </a:xfrm>
          <a:prstGeom prst="rect">
            <a:avLst/>
          </a:prstGeom>
          <a:solidFill>
            <a:srgbClr val="1FA9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49927" y="1737360"/>
            <a:ext cx="3291840" cy="914400"/>
          </a:xfrm>
          <a:prstGeom prst="roundRect">
            <a:avLst>
              <a:gd name="adj" fmla="val 14000"/>
            </a:avLst>
          </a:prstGeom>
          <a:solidFill>
            <a:srgbClr val="16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3079" y="1865376"/>
            <a:ext cx="3145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Learn what NORMAL</a:t>
            </a:r>
          </a:p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looks like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3079" y="2212848"/>
            <a:ext cx="31455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no fraud labels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used in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346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22433"/>
                </a:solidFill>
                <a:latin typeface="Calibri"/>
              </a:rPr>
              <a:t>How is “abnormal” defined? Three different answers: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0867" y="3337560"/>
            <a:ext cx="3520440" cy="1005840"/>
          </a:xfrm>
          <a:prstGeom prst="roundRect">
            <a:avLst>
              <a:gd name="adj" fmla="val 14000"/>
            </a:avLst>
          </a:prstGeom>
          <a:solidFill>
            <a:srgbClr val="4CD07D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307" y="3474720"/>
            <a:ext cx="3337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Isolation Forest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" y="384048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Easier to isolate</a:t>
            </a: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with random splits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2301087.0" y="2651760"/>
            <a:ext cx="3733953.0" cy="685800"/>
          </a:xfrm>
          <a:prstGeom prst="line">
            <a:avLst/>
          </a:prstGeom>
          <a:ln w="19050">
            <a:solidFill>
              <a:srgbClr val="5B607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335627" y="3337560"/>
            <a:ext cx="3520440" cy="1005840"/>
          </a:xfrm>
          <a:prstGeom prst="roundRect">
            <a:avLst>
              <a:gd name="adj" fmla="val 14000"/>
            </a:avLst>
          </a:prstGeom>
          <a:solidFill>
            <a:srgbClr val="4C6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7067" y="3474720"/>
            <a:ext cx="3337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One-Class SVM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7067" y="384048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Outside a learned</a:t>
            </a: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boundary around normal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35040" y="2651760"/>
            <a:ext cx="60807.0" cy="685800"/>
          </a:xfrm>
          <a:prstGeom prst="line">
            <a:avLst/>
          </a:prstGeom>
          <a:ln w="19050">
            <a:solidFill>
              <a:srgbClr val="5B607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130387" y="3337560"/>
            <a:ext cx="3520440" cy="1005840"/>
          </a:xfrm>
          <a:prstGeom prst="roundRect">
            <a:avLst>
              <a:gd name="adj" fmla="val 14000"/>
            </a:avLst>
          </a:prstGeom>
          <a:solidFill>
            <a:srgbClr val="C24C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1827" y="3474720"/>
            <a:ext cx="3337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Local Outlier Factor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1827" y="384048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Lower local density</a:t>
            </a: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than its neighbors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40" y="2651760"/>
            <a:ext cx="3855567.0" cy="685800"/>
          </a:xfrm>
          <a:prstGeom prst="line">
            <a:avLst/>
          </a:prstGeom>
          <a:ln w="19050">
            <a:solidFill>
              <a:srgbClr val="5B607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02920" y="466344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" y="4663440"/>
            <a:ext cx="82296" cy="1371600"/>
          </a:xfrm>
          <a:prstGeom prst="roundRect">
            <a:avLst>
              <a:gd name="adj" fmla="val 50000"/>
            </a:avLst>
          </a:prstGeom>
          <a:solidFill>
            <a:srgbClr val="4CD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4791456"/>
            <a:ext cx="31181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" b="1" i="0">
                <a:solidFill>
                  <a:srgbClr val="222433"/>
                </a:solidFill>
                <a:latin typeface="Calibr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" y="5175504"/>
            <a:ext cx="31181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Scales to ALL 284,807 rows —
this is the one run on the
full dataset.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466344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297680" y="4663440"/>
            <a:ext cx="82296" cy="1371600"/>
          </a:xfrm>
          <a:prstGeom prst="roundRect">
            <a:avLst>
              <a:gd name="adj" fmla="val 50000"/>
            </a:avLst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98848" y="4791456"/>
            <a:ext cx="31181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" b="1" i="0">
                <a:solidFill>
                  <a:srgbClr val="222433"/>
                </a:solidFill>
                <a:latin typeface="Calibri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8848" y="5175504"/>
            <a:ext cx="31181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Run on a stratified sample —
doesn't scale as well to
284K rows.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2440" y="466344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92440" y="4663440"/>
            <a:ext cx="82296" cy="1371600"/>
          </a:xfrm>
          <a:prstGeom prst="roundRect">
            <a:avLst>
              <a:gd name="adj" fmla="val 50000"/>
            </a:avLst>
          </a:prstGeom>
          <a:solidFill>
            <a:srgbClr val="C24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93608" y="4791456"/>
            <a:ext cx="31638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" b="1" i="0">
                <a:solidFill>
                  <a:srgbClr val="222433"/>
                </a:solidFill>
                <a:latin typeface="Calibri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93608" y="5175504"/>
            <a:ext cx="316382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Also run on a sample — density
comparisons get expensive at
full scale.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75"/>
                </a:solidFill>
                <a:latin typeface="Calibri"/>
              </a:rPr>
              <a:t>6.3 Anomaly Detection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651967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75"/>
                </a:solidFill>
                <a:latin typeface="Calibri"/>
              </a:rPr>
              <a:t>Phase 6 · Unsupervised ML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A963"/>
                </a:solidFill>
                <a:latin typeface="Calibri"/>
              </a:rPr>
              <a:t>6.3 ANOMALY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2433"/>
                </a:solidFill>
                <a:latin typeface="Calibri"/>
              </a:rPr>
              <a:t>Real Results: ROC AUC Head-to-Head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05840" cy="38100"/>
          </a:xfrm>
          <a:prstGeom prst="rect">
            <a:avLst/>
          </a:prstGeom>
          <a:solidFill>
            <a:srgbClr val="1FA9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B6075"/>
                </a:solidFill>
                <a:latin typeface="Calibri"/>
              </a:rPr>
              <a:t>Scored using ONLY the unsupervised anomaly score — fraud labels used solely to EVALUATE, never to train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828800"/>
          <a:ext cx="1078992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  <a:gridCol w="1463040"/>
                <a:gridCol w="4572000"/>
              </a:tblGrid>
              <a:tr h="33832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anchor="ctr" marT="50800" marB="50800">
                    <a:solidFill>
                      <a:srgbClr val="1FA9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Data used</a:t>
                      </a:r>
                    </a:p>
                  </a:txBody>
                  <a:tcPr anchor="ctr" marT="50800" marB="50800">
                    <a:solidFill>
                      <a:srgbClr val="1FA9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ROC AUC</a:t>
                      </a:r>
                    </a:p>
                  </a:txBody>
                  <a:tcPr anchor="ctr" marT="50800" marB="50800">
                    <a:solidFill>
                      <a:srgbClr val="1FA9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anchor="ctr" marT="50800" marB="50800">
                    <a:solidFill>
                      <a:srgbClr val="1FA963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433"/>
                          </a:solidFill>
                          <a:latin typeface="Calibri"/>
                        </a:rPr>
                        <a:t>Isolation Forest</a:t>
                      </a:r>
                    </a:p>
                  </a:txBody>
                  <a:tcPr anchor="ctr"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22433"/>
                          </a:solidFill>
                          <a:latin typeface="Calibri"/>
                        </a:rPr>
                        <a:t>Full 284,807 rows</a:t>
                      </a:r>
                    </a:p>
                  </a:txBody>
                  <a:tcPr anchor="ctr"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22433"/>
                          </a:solidFill>
                          <a:latin typeface="Calibri"/>
                        </a:rPr>
                        <a:t>0.948</a:t>
                      </a:r>
                    </a:p>
                  </a:txBody>
                  <a:tcPr anchor="ctr"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22433"/>
                          </a:solidFill>
                          <a:latin typeface="Calibri"/>
                        </a:rPr>
                        <a:t>Scales effortlessly — tree-based, no distance matrix</a:t>
                      </a:r>
                    </a:p>
                  </a:txBody>
                  <a:tcPr anchor="ctr" marL="101600" marT="38100" marB="38100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433"/>
                          </a:solidFill>
                          <a:latin typeface="Calibri"/>
                        </a:rPr>
                        <a:t>Isolation Forest</a:t>
                      </a:r>
                    </a:p>
                  </a:txBody>
                  <a:tcPr anchor="ctr" marL="101600" marT="38100" marB="38100">
                    <a:solidFill>
                      <a:srgbClr val="F2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22433"/>
                          </a:solidFill>
                          <a:latin typeface="Calibri"/>
                        </a:rPr>
                        <a:t>5,492-row sample</a:t>
                      </a:r>
                    </a:p>
                  </a:txBody>
                  <a:tcPr anchor="ctr" marL="101600" marT="38100" marB="38100">
                    <a:solidFill>
                      <a:srgbClr val="F2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22433"/>
                          </a:solidFill>
                          <a:latin typeface="Calibri"/>
                        </a:rPr>
                        <a:t>0.940</a:t>
                      </a:r>
                    </a:p>
                  </a:txBody>
                  <a:tcPr anchor="ctr" marL="101600" marT="38100" marB="38100">
                    <a:solidFill>
                      <a:srgbClr val="F2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22433"/>
                          </a:solidFill>
                          <a:latin typeface="Calibri"/>
                        </a:rPr>
                        <a:t>Nearly identical AUC on the smaller sample</a:t>
                      </a:r>
                    </a:p>
                  </a:txBody>
                  <a:tcPr anchor="ctr" marL="101600" marT="38100" marB="38100">
                    <a:solidFill>
                      <a:srgbClr val="F2F4F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433"/>
                          </a:solidFill>
                          <a:latin typeface="Calibri"/>
                        </a:rPr>
                        <a:t>One-Class SVM</a:t>
                      </a:r>
                    </a:p>
                  </a:txBody>
                  <a:tcPr anchor="ctr"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22433"/>
                          </a:solidFill>
                          <a:latin typeface="Calibri"/>
                        </a:rPr>
                        <a:t>5,492-row sample</a:t>
                      </a:r>
                    </a:p>
                  </a:txBody>
                  <a:tcPr anchor="ctr"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22433"/>
                          </a:solidFill>
                          <a:latin typeface="Calibri"/>
                        </a:rPr>
                        <a:t>0.822</a:t>
                      </a:r>
                    </a:p>
                  </a:txBody>
                  <a:tcPr anchor="ctr" marL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22433"/>
                          </a:solidFill>
                          <a:latin typeface="Calibri"/>
                        </a:rPr>
                        <a:t>Learns one boundary around “normal”</a:t>
                      </a:r>
                    </a:p>
                  </a:txBody>
                  <a:tcPr anchor="ctr" marL="101600" marT="38100" marB="38100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433"/>
                          </a:solidFill>
                          <a:latin typeface="Calibri"/>
                        </a:rPr>
                        <a:t>Local Outlier Factor</a:t>
                      </a:r>
                    </a:p>
                  </a:txBody>
                  <a:tcPr anchor="ctr" marL="101600" marT="38100" marB="38100">
                    <a:solidFill>
                      <a:srgbClr val="F2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22433"/>
                          </a:solidFill>
                          <a:latin typeface="Calibri"/>
                        </a:rPr>
                        <a:t>5,492-row sample</a:t>
                      </a:r>
                    </a:p>
                  </a:txBody>
                  <a:tcPr anchor="ctr" marL="101600" marT="38100" marB="38100">
                    <a:solidFill>
                      <a:srgbClr val="F2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22433"/>
                          </a:solidFill>
                          <a:latin typeface="Calibri"/>
                        </a:rPr>
                        <a:t>0.495</a:t>
                      </a:r>
                    </a:p>
                  </a:txBody>
                  <a:tcPr anchor="ctr" marL="101600" marT="38100" marB="38100">
                    <a:solidFill>
                      <a:srgbClr val="F2F4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22433"/>
                          </a:solidFill>
                          <a:latin typeface="Calibri"/>
                        </a:rPr>
                        <a:t>Struggles here — global fraud isn't always LOCALLY sparse</a:t>
                      </a:r>
                    </a:p>
                  </a:txBody>
                  <a:tcPr anchor="ctr" marL="101600" marT="38100" marB="38100">
                    <a:solidFill>
                      <a:srgbClr val="F2F4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379476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B6075"/>
                </a:solidFill>
                <a:latin typeface="Calibri"/>
              </a:rPr>
              <a:t>Why does Isolation Forest scale to 284,807 rows while OCSVM and LOF needed a sample?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B6075"/>
                </a:solidFill>
                <a:latin typeface="Calibri"/>
              </a:rPr>
              <a:t>Isolation Forest builds random-split trees — O(n log n), no pairwise distance computation.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B6075"/>
                </a:solidFill>
                <a:latin typeface="Calibri"/>
              </a:rPr>
              <a:t>OCSVM and LOF both require comparisons across the dataset (a learned boundary / k-nearest-neighbor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B6075"/>
                </a:solidFill>
                <a:latin typeface="Calibri"/>
              </a:rPr>
              <a:t>density), which becomes expensive well before 284K rows.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75"/>
                </a:solidFill>
                <a:latin typeface="Calibri"/>
              </a:rPr>
              <a:t>6.3 Anomaly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51967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75"/>
                </a:solidFill>
                <a:latin typeface="Calibri"/>
              </a:rPr>
              <a:t>Phase 6 · Unsupervised ML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A963"/>
                </a:solidFill>
                <a:latin typeface="Calibri"/>
              </a:rPr>
              <a:t>6.3 ANOMALY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2433"/>
                </a:solidFill>
                <a:latin typeface="Calibri"/>
              </a:rPr>
              <a:t>Evaluating an “Unsupervised” Score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05840" cy="38100"/>
          </a:xfrm>
          <a:prstGeom prst="rect">
            <a:avLst/>
          </a:prstGeom>
          <a:solidFill>
            <a:srgbClr val="1FA9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544068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82296" cy="4114800"/>
          </a:xfrm>
          <a:prstGeom prst="roundRect">
            <a:avLst>
              <a:gd name="adj" fmla="val 50000"/>
            </a:avLst>
          </a:prstGeom>
          <a:solidFill>
            <a:srgbClr val="4CD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865376"/>
            <a:ext cx="50383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2433"/>
                </a:solidFill>
                <a:latin typeface="Calibri"/>
              </a:rPr>
              <a:t>How can you compute ROC AUC at all?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249424"/>
            <a:ext cx="503834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5B6075"/>
                </a:solidFill>
                <a:latin typeface="Calibri"/>
              </a:rPr>
              <a:t>›  The model NEVER sees the Class label while
training — it only learns “what's normal.”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5B6075"/>
                </a:solidFill>
                <a:latin typeface="Calibri"/>
              </a:rPr>
              <a:t>›  Every point still gets a continuous anomaly
score (higher = more anomalous).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5B6075"/>
                </a:solidFill>
                <a:latin typeface="Calibri"/>
              </a:rPr>
              <a:t>›  AFTER training, you compare that ranking of
scores against the true labels — exactly what
ROC AUC and Average Precision measure.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5B6075"/>
                </a:solidFill>
                <a:latin typeface="Calibri"/>
              </a:rPr>
              <a:t>›  This is the general pattern for evaluating any
unsupervised method against labels you happen
to have, but didn't train 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37360"/>
            <a:ext cx="553212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1737360"/>
            <a:ext cx="82296" cy="4114800"/>
          </a:xfrm>
          <a:prstGeom prst="roundRect">
            <a:avLst>
              <a:gd name="adj" fmla="val 50000"/>
            </a:avLst>
          </a:prstGeom>
          <a:solidFill>
            <a:srgbClr val="1FA9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865376"/>
            <a:ext cx="5129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2433"/>
                </a:solidFill>
                <a:latin typeface="Calibri"/>
              </a:rPr>
              <a:t>What contamination / nu actually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249424"/>
            <a:ext cx="512978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5B6075"/>
                </a:solidFill>
                <a:latin typeface="Calibri"/>
              </a:rPr>
              <a:t>›  Sets the assumed FRACTION of anomalies — it
drives where the model draws its hard “yes/no”
cutoff for flagging a point.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5B6075"/>
                </a:solidFill>
                <a:latin typeface="Calibri"/>
              </a:rPr>
              <a:t>›  Real result: changing Isolation Forest's
contamination from the true rate (0.17%) to 0.01
barely moved ROC AUC.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5B6075"/>
                </a:solidFill>
                <a:latin typeface="Calibri"/>
              </a:rPr>
              <a:t>›  Why: contamination affects the CUTOFF, not the
underlying ranking/score that AUC evaluates —
the model still ranks points the same way.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75"/>
                </a:solidFill>
                <a:latin typeface="Calibri"/>
              </a:rPr>
              <a:t>6.3 Anomaly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51967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75"/>
                </a:solidFill>
                <a:latin typeface="Calibri"/>
              </a:rPr>
              <a:t>Phase 6 · Unsupervised ML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i="0">
                <a:solidFill>
                  <a:srgbClr val="E0A500"/>
                </a:solidFill>
                <a:latin typeface="Calibri"/>
              </a:rPr>
              <a:t>6.4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360" y="2057400"/>
            <a:ext cx="8595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Market Basket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78892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1">
                <a:solidFill>
                  <a:srgbClr val="C7CBDE"/>
                </a:solidFill>
                <a:latin typeface="Calibri"/>
              </a:rPr>
              <a:t>“Customers who bought X also bought Y” — one of the oldest, most profitable techniques in retail.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429000"/>
            <a:ext cx="1828800" cy="38100"/>
          </a:xfrm>
          <a:prstGeom prst="rect">
            <a:avLst/>
          </a:prstGeom>
          <a:solidFill>
            <a:srgbClr val="E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26080" y="3794760"/>
            <a:ext cx="6035040" cy="566928"/>
          </a:xfrm>
          <a:prstGeom prst="roundRect">
            <a:avLst>
              <a:gd name="adj" fmla="val 50000"/>
            </a:avLst>
          </a:prstGeom>
          <a:solidFill>
            <a:srgbClr val="22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3794760"/>
            <a:ext cx="5577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📊  Dataset: Groceries — 9,835 real transactions (R's classic arules dataset)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4480560"/>
            <a:ext cx="6035040" cy="566928"/>
          </a:xfrm>
          <a:prstGeom prst="roundRect">
            <a:avLst>
              <a:gd name="adj" fmla="val 50000"/>
            </a:avLst>
          </a:prstGeom>
          <a:solidFill>
            <a:srgbClr val="22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4480560"/>
            <a:ext cx="5577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📓  Notebook: 01_market_basket_analysis.ipynb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8FA8"/>
                </a:solidFill>
                <a:latin typeface="Calibri"/>
              </a:rPr>
              <a:t>Phase 6 — Unsupervised Learning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A500"/>
                </a:solidFill>
                <a:latin typeface="Calibri"/>
              </a:rPr>
              <a:t>6.4 MARKET BASKET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2433"/>
                </a:solidFill>
                <a:latin typeface="Calibri"/>
              </a:rPr>
              <a:t>Why This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05840" cy="38100"/>
          </a:xfrm>
          <a:prstGeom prst="rect">
            <a:avLst/>
          </a:prstGeom>
          <a:solidFill>
            <a:srgbClr val="E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54406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82296" cy="2377440"/>
          </a:xfrm>
          <a:prstGeom prst="roundRect">
            <a:avLst>
              <a:gd name="adj" fmla="val 50000"/>
            </a:avLst>
          </a:prstGeom>
          <a:solidFill>
            <a:srgbClr val="F5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865376"/>
            <a:ext cx="50383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22433"/>
                </a:solidFill>
                <a:latin typeface="Calibri"/>
              </a:rPr>
              <a:t>🎯  Real-world payoff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249424"/>
            <a:ext cx="503834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5B6075"/>
                </a:solidFill>
                <a:latin typeface="Calibri"/>
              </a:rPr>
              <a:t>›  Directly powers product placement, bundle
deals, and “frequently bought together”
recommendations in real retail systems.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5B6075"/>
                </a:solidFill>
                <a:latin typeface="Calibri"/>
              </a:rPr>
              <a:t>›  Two algorithms here are GUARANTEED to find
the identical answer via completely different
routes — a rare, checkable ML setting.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37360"/>
            <a:ext cx="553212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1737360"/>
            <a:ext cx="82296" cy="2377440"/>
          </a:xfrm>
          <a:prstGeom prst="roundRect">
            <a:avLst>
              <a:gd name="adj" fmla="val 50000"/>
            </a:avLst>
          </a:prstGeom>
          <a:solidFill>
            <a:srgbClr val="C24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865376"/>
            <a:ext cx="5129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22433"/>
                </a:solidFill>
                <a:latin typeface="Calibri"/>
              </a:rPr>
              <a:t>🌉  Bridges forward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249424"/>
            <a:ext cx="512978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5B6075"/>
                </a:solidFill>
                <a:latin typeface="Calibri"/>
              </a:rPr>
              <a:t>›  The support / confidence / lift vocabulary
reappears throughout Section 6.5
(Recommendation Systems) and retail
analytics more broadly.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343400"/>
            <a:ext cx="269748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4343400"/>
            <a:ext cx="2697480" cy="54864"/>
          </a:xfrm>
          <a:prstGeom prst="roundRect">
            <a:avLst/>
          </a:prstGeom>
          <a:solidFill>
            <a:srgbClr val="E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507992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E0A500"/>
                </a:solidFill>
                <a:latin typeface="Calibri"/>
              </a:rPr>
              <a:t>9,835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120640"/>
            <a:ext cx="2514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075"/>
                </a:solidFill>
                <a:latin typeface="Calibri"/>
              </a:rPr>
              <a:t>real grocery</a:t>
            </a: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075"/>
                </a:solidFill>
                <a:latin typeface="Calibri"/>
              </a:rPr>
              <a:t>transactions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4343400"/>
            <a:ext cx="269748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383280" y="4343400"/>
            <a:ext cx="2697480" cy="54864"/>
          </a:xfrm>
          <a:prstGeom prst="roundRect">
            <a:avLst/>
          </a:prstGeom>
          <a:solidFill>
            <a:srgbClr val="E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4507992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E0A500"/>
                </a:solidFill>
                <a:latin typeface="Calibri"/>
              </a:rPr>
              <a:t>169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5120640"/>
            <a:ext cx="2514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075"/>
                </a:solidFill>
                <a:latin typeface="Calibri"/>
              </a:rPr>
              <a:t>unique items across</a:t>
            </a: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075"/>
                </a:solidFill>
                <a:latin typeface="Calibri"/>
              </a:rPr>
              <a:t>all transactions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343400"/>
            <a:ext cx="269748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63640" y="4343400"/>
            <a:ext cx="2697480" cy="54864"/>
          </a:xfrm>
          <a:prstGeom prst="roundRect">
            <a:avLst/>
          </a:prstGeom>
          <a:solidFill>
            <a:srgbClr val="E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4507992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E0A500"/>
                </a:solidFill>
                <a:latin typeface="Calibri"/>
              </a:rPr>
              <a:t>~4.4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5120640"/>
            <a:ext cx="2514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075"/>
                </a:solidFill>
                <a:latin typeface="Calibri"/>
              </a:rPr>
              <a:t>average items</a:t>
            </a: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075"/>
                </a:solidFill>
                <a:latin typeface="Calibri"/>
              </a:rPr>
              <a:t>per transaction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4343400"/>
            <a:ext cx="256032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0" y="4343400"/>
            <a:ext cx="2560320" cy="54864"/>
          </a:xfrm>
          <a:prstGeom prst="roundRect">
            <a:avLst/>
          </a:prstGeom>
          <a:solidFill>
            <a:srgbClr val="E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4507992"/>
            <a:ext cx="2560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E0A500"/>
                </a:solidFill>
                <a:latin typeface="Calibri"/>
              </a:rPr>
              <a:t>332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5120640"/>
            <a:ext cx="2377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075"/>
                </a:solidFill>
                <a:latin typeface="Calibri"/>
              </a:rPr>
              <a:t>frequent itemsets found</a:t>
            </a: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075"/>
                </a:solidFill>
                <a:latin typeface="Calibri"/>
              </a:rPr>
              <a:t>(min_support = 0.01)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75"/>
                </a:solidFill>
                <a:latin typeface="Calibri"/>
              </a:rPr>
              <a:t>6.4 Market Basket 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651967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75"/>
                </a:solidFill>
                <a:latin typeface="Calibri"/>
              </a:rPr>
              <a:t>Phase 6 · Unsupervised ML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A500"/>
                </a:solidFill>
                <a:latin typeface="Calibri"/>
              </a:rPr>
              <a:t>6.4 MARKET BASKET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2433"/>
                </a:solidFill>
                <a:latin typeface="Calibri"/>
              </a:rPr>
              <a:t>Support, Confidence, and Lift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05840" cy="38100"/>
          </a:xfrm>
          <a:prstGeom prst="rect">
            <a:avLst/>
          </a:prstGeom>
          <a:solidFill>
            <a:srgbClr val="E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447" y="1691640"/>
            <a:ext cx="3383280" cy="1143000"/>
          </a:xfrm>
          <a:prstGeom prst="roundRect">
            <a:avLst>
              <a:gd name="adj" fmla="val 14000"/>
            </a:avLst>
          </a:prstGeom>
          <a:solidFill>
            <a:srgbClr val="F5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2599" y="1819656"/>
            <a:ext cx="32369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2599" y="2167128"/>
            <a:ext cx="3236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How often A and B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appear together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4207" y="1691640"/>
            <a:ext cx="3383280" cy="1143000"/>
          </a:xfrm>
          <a:prstGeom prst="roundRect">
            <a:avLst>
              <a:gd name="adj" fmla="val 14000"/>
            </a:avLst>
          </a:prstGeom>
          <a:solidFill>
            <a:srgbClr val="E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77359" y="1819656"/>
            <a:ext cx="32369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7359" y="2167128"/>
            <a:ext cx="3236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P(B | A) — given A,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how often does B follow?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8967" y="1691640"/>
            <a:ext cx="3383280" cy="1143000"/>
          </a:xfrm>
          <a:prstGeom prst="roundRect">
            <a:avLst>
              <a:gd name="adj" fmla="val 14000"/>
            </a:avLst>
          </a:prstGeom>
          <a:solidFill>
            <a:srgbClr val="C24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2119" y="1819656"/>
            <a:ext cx="32369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Lift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2119" y="2167128"/>
            <a:ext cx="3236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P(B|A) / P(B)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&gt; 1 = genuine association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992727" y="2263140.0"/>
            <a:ext cx="411480" cy="0.0"/>
          </a:xfrm>
          <a:prstGeom prst="line">
            <a:avLst/>
          </a:prstGeom>
          <a:ln w="25400">
            <a:solidFill>
              <a:srgbClr val="5B607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787487" y="2263140.0"/>
            <a:ext cx="411480" cy="0.0"/>
          </a:xfrm>
          <a:prstGeom prst="line">
            <a:avLst/>
          </a:prstGeom>
          <a:ln w="25400">
            <a:solidFill>
              <a:srgbClr val="5B607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2920" y="3291840"/>
            <a:ext cx="1120140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3291840"/>
            <a:ext cx="82296" cy="2651760"/>
          </a:xfrm>
          <a:prstGeom prst="roundRect">
            <a:avLst>
              <a:gd name="adj" fmla="val 50000"/>
            </a:avLst>
          </a:prstGeom>
          <a:solidFill>
            <a:srgbClr val="E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3419856"/>
            <a:ext cx="107990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22433"/>
                </a:solidFill>
                <a:latin typeface="Calibri"/>
              </a:rPr>
              <a:t>Why lift beats confidence alone — a real example from the notebook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3803904"/>
            <a:ext cx="1079906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5B6075"/>
                </a:solidFill>
                <a:latin typeface="Calibri"/>
              </a:rPr>
              <a:t>›  Rule mined from the data: {curd} → {whole milk, yogurt}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5B6075"/>
                </a:solidFill>
                <a:latin typeface="Calibri"/>
              </a:rPr>
              <a:t>›  Support = 0.0101  (this combination appears in 1.01% of all 9,835 transactions)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5B6075"/>
                </a:solidFill>
                <a:latin typeface="Calibri"/>
              </a:rPr>
              <a:t>›  Confidence = 0.189  (18.9% of customers who buy curd also buy whole milk &amp; yogurt)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5B6075"/>
                </a:solidFill>
                <a:latin typeface="Calibri"/>
              </a:rPr>
              <a:t>›  Lift = 3.37  (buying curd makes buying whole milk + yogurt 3.37x MORE likely than the
baseline rate — this is a genuine association, not just two popular items)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5B6075"/>
                </a:solidFill>
                <a:latin typeface="Calibri"/>
              </a:rPr>
              <a:t>›  A rule can have HIGH confidence purely because the consequent (e.g. whole milk) is
already popular on its own — lift corrects for that by comparing against the baseline.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75"/>
                </a:solidFill>
                <a:latin typeface="Calibri"/>
              </a:rPr>
              <a:t>6.4 Market Basket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1967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75"/>
                </a:solidFill>
                <a:latin typeface="Calibri"/>
              </a:rPr>
              <a:t>Phase 6 · Unsupervised ML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A500"/>
                </a:solidFill>
                <a:latin typeface="Calibri"/>
              </a:rPr>
              <a:t>6.4 MARKET BASKET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2433"/>
                </a:solidFill>
                <a:latin typeface="Calibri"/>
              </a:rPr>
              <a:t>Apriori vs. FP-Growth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05840" cy="38100"/>
          </a:xfrm>
          <a:prstGeom prst="rect">
            <a:avLst/>
          </a:prstGeom>
          <a:solidFill>
            <a:srgbClr val="E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B6075"/>
                </a:solidFill>
                <a:latin typeface="Calibri"/>
              </a:rPr>
              <a:t>Two routes to the identical set of frequent itemsets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544068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737360"/>
            <a:ext cx="82296" cy="4114800"/>
          </a:xfrm>
          <a:prstGeom prst="roundRect">
            <a:avLst>
              <a:gd name="adj" fmla="val 50000"/>
            </a:avLst>
          </a:prstGeom>
          <a:solidFill>
            <a:srgbClr val="F5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865376"/>
            <a:ext cx="50383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22433"/>
                </a:solidFill>
                <a:latin typeface="Calibri"/>
              </a:rPr>
              <a:t>Apriori — level-by-level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249424"/>
            <a:ext cx="503834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Finds frequent 1-itemsets, then 2-itemsets, then
3-itemsets... growing the itemset size one level
at a time.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The “apriori principle”: if an itemset is
infrequent, EVERY superset of it must also be
infrequent — this prunes the search space hugely.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Requires repeatedly generating and testing
candidate itemsets against the full transaction set.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Found 332 frequent itemsets at min_support = 0.01
on the Groceries dataset.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37360"/>
            <a:ext cx="553212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1737360"/>
            <a:ext cx="82296" cy="4114800"/>
          </a:xfrm>
          <a:prstGeom prst="roundRect">
            <a:avLst>
              <a:gd name="adj" fmla="val 50000"/>
            </a:avLst>
          </a:prstGeom>
          <a:solidFill>
            <a:srgbClr val="E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865376"/>
            <a:ext cx="5129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22433"/>
                </a:solidFill>
                <a:latin typeface="Calibri"/>
              </a:rPr>
              <a:t>FP-Growth — tree-based, no candidates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249424"/>
            <a:ext cx="512978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Compresses all transactions into a single FP-tree,
then mines frequent itemsets directly from the
tree structure.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No explicit candidate generation step — this is
what typically lets it scale better as data grows,
even though both methods find the SAME itemsets.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Found the identical 332 frequent itemsets as
Apriori on this dataset — same answer, different
route, exactly as guaranteed by the math.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5B6075"/>
                </a:solidFill>
                <a:latin typeface="Calibri"/>
              </a:rPr>
              <a:t>›  One-hot basket encoding (TransactionEncoder)
is a shared prerequisite for both algorithms.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75"/>
                </a:solidFill>
                <a:latin typeface="Calibri"/>
              </a:rPr>
              <a:t>6.4 Market Basket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51967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75"/>
                </a:solidFill>
                <a:latin typeface="Calibri"/>
              </a:rPr>
              <a:t>Phase 6 · Unsupervised ML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i="0">
                <a:solidFill>
                  <a:srgbClr val="C24CFF"/>
                </a:solidFill>
                <a:latin typeface="Calibri"/>
              </a:rPr>
              <a:t>6.5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360" y="2057400"/>
            <a:ext cx="8595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Recommendation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78892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1">
                <a:solidFill>
                  <a:srgbClr val="C7CBDE"/>
                </a:solidFill>
                <a:latin typeface="Calibri"/>
              </a:rPr>
              <a:t>Clustering, similarity metrics, and SVD converge into one of the most commercially important applications in ML.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429000"/>
            <a:ext cx="1828800" cy="38100"/>
          </a:xfrm>
          <a:prstGeom prst="rect">
            <a:avLst/>
          </a:prstGeom>
          <a:solidFill>
            <a:srgbClr val="C24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26080" y="3794760"/>
            <a:ext cx="6035040" cy="566928"/>
          </a:xfrm>
          <a:prstGeom prst="roundRect">
            <a:avLst>
              <a:gd name="adj" fmla="val 50000"/>
            </a:avLst>
          </a:prstGeom>
          <a:solidFill>
            <a:srgbClr val="22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3794760"/>
            <a:ext cx="5577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📊  Dataset: MovieLens — 100,836 ratings, 610 users, 9,724 movies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4480560"/>
            <a:ext cx="6035040" cy="566928"/>
          </a:xfrm>
          <a:prstGeom prst="roundRect">
            <a:avLst>
              <a:gd name="adj" fmla="val 50000"/>
            </a:avLst>
          </a:prstGeom>
          <a:solidFill>
            <a:srgbClr val="22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4480560"/>
            <a:ext cx="55778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📓  Notebook: 01_recommendation_systems.ipynb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8FA8"/>
                </a:solidFill>
                <a:latin typeface="Calibri"/>
              </a:rPr>
              <a:t>Phase 6 — Unsupervised Learning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4CFF"/>
                </a:solidFill>
                <a:latin typeface="Calibri"/>
              </a:rPr>
              <a:t>6.5 RECOMMENDATION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2433"/>
                </a:solidFill>
                <a:latin typeface="Calibri"/>
              </a:rPr>
              <a:t>Why This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05840" cy="38100"/>
          </a:xfrm>
          <a:prstGeom prst="rect">
            <a:avLst/>
          </a:prstGeom>
          <a:solidFill>
            <a:srgbClr val="C24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54406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82296" cy="2377440"/>
          </a:xfrm>
          <a:prstGeom prst="roundRect">
            <a:avLst>
              <a:gd name="adj" fmla="val 50000"/>
            </a:avLst>
          </a:prstGeom>
          <a:solidFill>
            <a:srgbClr val="C24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865376"/>
            <a:ext cx="50383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22433"/>
                </a:solidFill>
                <a:latin typeface="Calibri"/>
              </a:rPr>
              <a:t>🎯  Real-world payoff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249424"/>
            <a:ext cx="503834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5B6075"/>
                </a:solidFill>
                <a:latin typeface="Calibri"/>
              </a:rPr>
              <a:t>›  Every major platform you use daily — streaming,
shopping, social feeds — runs on some blend of
the 3 techniques in this notebook.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37360"/>
            <a:ext cx="553212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1737360"/>
            <a:ext cx="82296" cy="2377440"/>
          </a:xfrm>
          <a:prstGeom prst="roundRect">
            <a:avLst>
              <a:gd name="adj" fmla="val 50000"/>
            </a:avLst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865376"/>
            <a:ext cx="5129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22433"/>
                </a:solidFill>
                <a:latin typeface="Calibri"/>
              </a:rPr>
              <a:t>🌉  Bridges backward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249424"/>
            <a:ext cx="512978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5B6075"/>
                </a:solidFill>
                <a:latin typeface="Calibri"/>
              </a:rPr>
              <a:t>›  Matrix factorization here is the direct, at-scale
payoff of Module 1.1's SVD recommendation-
systems preview.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5B6075"/>
                </a:solidFill>
                <a:latin typeface="Calibri"/>
              </a:rPr>
              <a:t>›  Similarity metrics reuse the distance/cosine
math from Module 1.1.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343400"/>
            <a:ext cx="2697480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4343400"/>
            <a:ext cx="2697480" cy="54864"/>
          </a:xfrm>
          <a:prstGeom prst="roundRect">
            <a:avLst/>
          </a:prstGeom>
          <a:solidFill>
            <a:srgbClr val="C24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507992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C24CFF"/>
                </a:solidFill>
                <a:latin typeface="Calibri"/>
              </a:rPr>
              <a:t>100,836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120640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075"/>
                </a:solidFill>
                <a:latin typeface="Calibri"/>
              </a:rPr>
              <a:t>real ratings from</a:t>
            </a: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075"/>
                </a:solidFill>
                <a:latin typeface="Calibri"/>
              </a:rPr>
              <a:t>610 users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4343400"/>
            <a:ext cx="2697480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383280" y="4343400"/>
            <a:ext cx="2697480" cy="54864"/>
          </a:xfrm>
          <a:prstGeom prst="roundRect">
            <a:avLst/>
          </a:prstGeom>
          <a:solidFill>
            <a:srgbClr val="C24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4507992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C24CFF"/>
                </a:solidFill>
                <a:latin typeface="Calibri"/>
              </a:rPr>
              <a:t>9,724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5120640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075"/>
                </a:solidFill>
                <a:latin typeface="Calibri"/>
              </a:rPr>
              <a:t>movies rated,</a:t>
            </a: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075"/>
                </a:solidFill>
                <a:latin typeface="Calibri"/>
              </a:rPr>
              <a:t>with genre metadata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343400"/>
            <a:ext cx="2697480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63640" y="4343400"/>
            <a:ext cx="2697480" cy="54864"/>
          </a:xfrm>
          <a:prstGeom prst="roundRect">
            <a:avLst/>
          </a:prstGeom>
          <a:solidFill>
            <a:srgbClr val="C24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4507992"/>
            <a:ext cx="2697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C24CFF"/>
                </a:solidFill>
                <a:latin typeface="Calibri"/>
              </a:rPr>
              <a:t>1.70%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5120640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075"/>
                </a:solidFill>
                <a:latin typeface="Calibri"/>
              </a:rPr>
              <a:t>of the user × movie</a:t>
            </a: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075"/>
                </a:solidFill>
                <a:latin typeface="Calibri"/>
              </a:rPr>
              <a:t>matrix is filled 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4343400"/>
            <a:ext cx="2560320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0" y="4343400"/>
            <a:ext cx="2560320" cy="54864"/>
          </a:xfrm>
          <a:prstGeom prst="roundRect">
            <a:avLst/>
          </a:prstGeom>
          <a:solidFill>
            <a:srgbClr val="C24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4507992"/>
            <a:ext cx="2560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C24CFF"/>
                </a:solidFill>
                <a:latin typeface="Calibri"/>
              </a:rPr>
              <a:t>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512064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075"/>
                </a:solidFill>
                <a:latin typeface="Calibri"/>
              </a:rPr>
              <a:t>latent factors used</a:t>
            </a: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075"/>
                </a:solidFill>
                <a:latin typeface="Calibri"/>
              </a:rPr>
              <a:t>for SVD factorization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12648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B6075"/>
                </a:solidFill>
                <a:latin typeface="Calibri"/>
              </a:rPr>
              <a:t>That 1.70% fill rate is THE central challenge every recommender method below has to work around.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75"/>
                </a:solidFill>
                <a:latin typeface="Calibri"/>
              </a:rPr>
              <a:t>6.5 Recommendation Systems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651967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75"/>
                </a:solidFill>
                <a:latin typeface="Calibri"/>
              </a:rPr>
              <a:t>Phase 6 · Unsupervised ML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4CFF"/>
                </a:solidFill>
                <a:latin typeface="Calibri"/>
              </a:rPr>
              <a:t>6.5 RECOMMENDATION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2433"/>
                </a:solidFill>
                <a:latin typeface="Calibri"/>
              </a:rPr>
              <a:t>Three Strategies, One Goal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05840" cy="38100"/>
          </a:xfrm>
          <a:prstGeom prst="rect">
            <a:avLst/>
          </a:prstGeom>
          <a:solidFill>
            <a:srgbClr val="C24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75407" y="1783080"/>
            <a:ext cx="3291840" cy="1188720"/>
          </a:xfrm>
          <a:prstGeom prst="roundRect">
            <a:avLst>
              <a:gd name="adj" fmla="val 14000"/>
            </a:avLst>
          </a:prstGeom>
          <a:solidFill>
            <a:srgbClr val="4C6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12567" y="19202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Collaborative Filtering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12567" y="233172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“People like you enjoyed this”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(needs OTHER users' ratings)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4447" y="1783080"/>
            <a:ext cx="3291840" cy="1188720"/>
          </a:xfrm>
          <a:prstGeom prst="roundRect">
            <a:avLst>
              <a:gd name="adj" fmla="val 14000"/>
            </a:avLst>
          </a:prstGeom>
          <a:solidFill>
            <a:srgbClr val="FF8A4C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1607" y="19202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Content-Based Filtering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1607" y="233172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“Similar to what you liked”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(needs item attributes, not other users)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21327.0" y="2971800"/>
            <a:ext cx="1859433.0" cy="548640"/>
          </a:xfrm>
          <a:prstGeom prst="line">
            <a:avLst/>
          </a:prstGeom>
          <a:ln w="25400">
            <a:solidFill>
              <a:srgbClr val="5B607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080760" y="2971800"/>
            <a:ext cx="1889607.0" cy="548640"/>
          </a:xfrm>
          <a:prstGeom prst="line">
            <a:avLst/>
          </a:prstGeom>
          <a:ln w="25400">
            <a:solidFill>
              <a:srgbClr val="5B607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709160" y="3520440"/>
            <a:ext cx="2743200" cy="1005840"/>
          </a:xfrm>
          <a:prstGeom prst="roundRect">
            <a:avLst>
              <a:gd name="adj" fmla="val 16000"/>
            </a:avLst>
          </a:prstGeom>
          <a:solidFill>
            <a:srgbClr val="C24C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363931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Hybrid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977639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Blends both signals — usually</a:t>
            </a:r>
          </a:p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more robust than either alone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800600"/>
            <a:ext cx="54406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4800600"/>
            <a:ext cx="82296" cy="1417320"/>
          </a:xfrm>
          <a:prstGeom prst="roundRect">
            <a:avLst>
              <a:gd name="adj" fmla="val 50000"/>
            </a:avLst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4928616"/>
            <a:ext cx="50383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22433"/>
                </a:solidFill>
                <a:latin typeface="Calibri"/>
              </a:rPr>
              <a:t>Cold-start problem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5312664"/>
            <a:ext cx="503834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5B6075"/>
                </a:solidFill>
                <a:latin typeface="Calibri"/>
              </a:rPr>
              <a:t>›  Collaborative filtering structurally CAN'T
recommend for a brand-new user/item with no
ratings yet — content-based filtering can, since
it only needs item attributes.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800600"/>
            <a:ext cx="55321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72200" y="4800600"/>
            <a:ext cx="82296" cy="1417320"/>
          </a:xfrm>
          <a:prstGeom prst="roundRect">
            <a:avLst>
              <a:gd name="adj" fmla="val 50000"/>
            </a:avLst>
          </a:prstGeom>
          <a:solidFill>
            <a:srgbClr val="C24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4928616"/>
            <a:ext cx="5129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22433"/>
                </a:solidFill>
                <a:latin typeface="Calibri"/>
              </a:rPr>
              <a:t>Why hybrid wins in practice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5312664"/>
            <a:ext cx="512978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5B6075"/>
                </a:solidFill>
                <a:latin typeface="Calibri"/>
              </a:rPr>
              <a:t>›  Normalize both collaborative and content-based
scores to [0,1] before blending — otherwise one
signal dominates purely from differences in scale.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75"/>
                </a:solidFill>
                <a:latin typeface="Calibri"/>
              </a:rPr>
              <a:t>6.5 Recommendation Systems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1967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75"/>
                </a:solidFill>
                <a:latin typeface="Calibri"/>
              </a:rPr>
              <a:t>Phase 6 · Unsupervised ML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4CFF"/>
                </a:solidFill>
                <a:latin typeface="Calibri"/>
              </a:rPr>
              <a:t>6.5 RECOMMENDATION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2433"/>
                </a:solidFill>
                <a:latin typeface="Calibri"/>
              </a:rPr>
              <a:t>Collaborative Filtering — Two Flavors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05840" cy="38100"/>
          </a:xfrm>
          <a:prstGeom prst="rect">
            <a:avLst/>
          </a:prstGeom>
          <a:solidFill>
            <a:srgbClr val="C24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544068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82296" cy="4114800"/>
          </a:xfrm>
          <a:prstGeom prst="roundRect">
            <a:avLst>
              <a:gd name="adj" fmla="val 50000"/>
            </a:avLst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865376"/>
            <a:ext cx="50383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22433"/>
                </a:solidFill>
                <a:latin typeface="Calibri"/>
              </a:rPr>
              <a:t>User-based CF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249424"/>
            <a:ext cx="503834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5B6075"/>
                </a:solidFill>
                <a:latin typeface="Calibri"/>
              </a:rPr>
              <a:t>›  Find the users most SIMILAR to you (cosine
similarity over the user×item ratings matrix).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5B6075"/>
                </a:solidFill>
                <a:latin typeface="Calibri"/>
              </a:rPr>
              <a:t>›  Recommend what those similar users rated
highly, weighted by how similar each one is.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5B6075"/>
                </a:solidFill>
                <a:latin typeface="Calibri"/>
              </a:rPr>
              <a:t>›  In the notebook: the 20 most similar users to a
target user drive a weighted-average prediction
for every movie they've rated.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37360"/>
            <a:ext cx="553212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1737360"/>
            <a:ext cx="82296" cy="4114800"/>
          </a:xfrm>
          <a:prstGeom prst="roundRect">
            <a:avLst>
              <a:gd name="adj" fmla="val 50000"/>
            </a:avLst>
          </a:prstGeom>
          <a:solidFill>
            <a:srgbClr val="6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865376"/>
            <a:ext cx="5129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22433"/>
                </a:solidFill>
                <a:latin typeface="Calibri"/>
              </a:rPr>
              <a:t>Item-based CF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249424"/>
            <a:ext cx="512978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5B6075"/>
                </a:solidFill>
                <a:latin typeface="Calibri"/>
              </a:rPr>
              <a:t>›  Find movies SIMILAR to ones you already rated
(cosine similarity over the item×user matrix).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5B6075"/>
                </a:solidFill>
                <a:latin typeface="Calibri"/>
              </a:rPr>
              <a:t>›  For every movie you rated, spread that rating
across similar movies, weighted by similarity.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5B6075"/>
                </a:solidFill>
                <a:latin typeface="Calibri"/>
              </a:rPr>
              <a:t>›  Item-based similarity tends to be more STABLE
over time than user-based (a user's taste can shift;
an item's relationship to other items usually doesn't).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75"/>
                </a:solidFill>
                <a:latin typeface="Calibri"/>
              </a:rPr>
              <a:t>6.5 Recommendation Systems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51967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75"/>
                </a:solidFill>
                <a:latin typeface="Calibri"/>
              </a:rPr>
              <a:t>Phase 6 · Unsupervised ML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4CFF"/>
                </a:solidFill>
                <a:latin typeface="Calibri"/>
              </a:rPr>
              <a:t>6.5 RECOMMENDATION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2433"/>
                </a:solidFill>
                <a:latin typeface="Calibri"/>
              </a:rPr>
              <a:t>SVD — Matrix Factorization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05840" cy="38100"/>
          </a:xfrm>
          <a:prstGeom prst="rect">
            <a:avLst/>
          </a:prstGeom>
          <a:solidFill>
            <a:srgbClr val="C24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B6075"/>
                </a:solidFill>
                <a:latin typeface="Calibri"/>
              </a:rPr>
              <a:t>The at-scale payoff of Module 1.1's SVD preview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626364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737360"/>
            <a:ext cx="82296" cy="4114800"/>
          </a:xfrm>
          <a:prstGeom prst="roundRect">
            <a:avLst>
              <a:gd name="adj" fmla="val 50000"/>
            </a:avLst>
          </a:prstGeom>
          <a:solidFill>
            <a:srgbClr val="C24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865376"/>
            <a:ext cx="58613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22433"/>
                </a:solidFill>
                <a:latin typeface="Calibri"/>
              </a:rPr>
              <a:t>How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249424"/>
            <a:ext cx="586130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5B6075"/>
                </a:solidFill>
                <a:latin typeface="Calibri"/>
              </a:rPr>
              <a:t>›  Center each user's ratings around their own
average first — removes “some users just rate
everything higher” bias.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5B6075"/>
                </a:solidFill>
                <a:latin typeface="Calibri"/>
              </a:rPr>
              <a:t>›  TruncatedSVD compresses the sparse user×item
matrix into a small number of LATENT FACTORS
(hidden dimensions like “action-ness” or “indie-ness”
that the model discovers, not names).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5B6075"/>
                </a:solidFill>
                <a:latin typeface="Calibri"/>
              </a:rPr>
              <a:t>›  Reconstructing user_factors @ item_factors (plus
each user's mean back) gives a PREDICTED rating
for every movie a user hasn't seen yet.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5B6075"/>
                </a:solidFill>
                <a:latin typeface="Calibri"/>
              </a:rPr>
              <a:t>›  This directly generalizes the hand-derived SVD
from Module 1.1 to a real, sparse, 610×1,297 matrix.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86600" y="1737360"/>
            <a:ext cx="214884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086600" y="1737360"/>
            <a:ext cx="2148840" cy="54864"/>
          </a:xfrm>
          <a:prstGeom prst="roundRect">
            <a:avLst/>
          </a:prstGeom>
          <a:solidFill>
            <a:srgbClr val="C24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1901952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C24CFF"/>
                </a:solidFill>
                <a:latin typeface="Calibri"/>
              </a:rPr>
              <a:t>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2514600"/>
            <a:ext cx="19659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075"/>
                </a:solidFill>
                <a:latin typeface="Calibri"/>
              </a:rPr>
              <a:t>latent factors</a:t>
            </a: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075"/>
                </a:solidFill>
                <a:latin typeface="Calibri"/>
              </a:rPr>
              <a:t>used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72600" y="1737360"/>
            <a:ext cx="214884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72600" y="1737360"/>
            <a:ext cx="2148840" cy="54864"/>
          </a:xfrm>
          <a:prstGeom prst="roundRect">
            <a:avLst/>
          </a:prstGeom>
          <a:solidFill>
            <a:srgbClr val="C24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600" y="1901952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C24CFF"/>
                </a:solidFill>
                <a:latin typeface="Calibri"/>
              </a:rPr>
              <a:t>27.9%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2514600"/>
            <a:ext cx="19659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075"/>
                </a:solidFill>
                <a:latin typeface="Calibri"/>
              </a:rPr>
              <a:t>of variance captured</a:t>
            </a: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075"/>
                </a:solidFill>
                <a:latin typeface="Calibri"/>
              </a:rPr>
              <a:t>by those 20 factors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86600" y="3840480"/>
            <a:ext cx="214884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086600" y="3840480"/>
            <a:ext cx="2148840" cy="54864"/>
          </a:xfrm>
          <a:prstGeom prst="roundRect">
            <a:avLst/>
          </a:prstGeom>
          <a:solidFill>
            <a:srgbClr val="C24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4005072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C24CFF"/>
                </a:solidFill>
                <a:latin typeface="Calibri"/>
              </a:rPr>
              <a:t>610 ×</a:t>
            </a:r>
          </a:p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C24CFF"/>
                </a:solidFill>
                <a:latin typeface="Calibri"/>
              </a:rPr>
              <a:t>1,297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4617720"/>
            <a:ext cx="1965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075"/>
                </a:solidFill>
                <a:latin typeface="Calibri"/>
              </a:rPr>
              <a:t>user × movie matrix,</a:t>
            </a: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075"/>
                </a:solidFill>
                <a:latin typeface="Calibri"/>
              </a:rPr>
              <a:t>after filtering to</a:t>
            </a: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075"/>
                </a:solidFill>
                <a:latin typeface="Calibri"/>
              </a:rPr>
              <a:t>movies with ≥20 ratings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72600" y="3840480"/>
            <a:ext cx="214884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72600" y="3840480"/>
            <a:ext cx="2148840" cy="54864"/>
          </a:xfrm>
          <a:prstGeom prst="roundRect">
            <a:avLst/>
          </a:prstGeom>
          <a:solidFill>
            <a:srgbClr val="C24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72600" y="4005072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C24CFF"/>
                </a:solidFill>
                <a:latin typeface="Calibri"/>
              </a:rPr>
              <a:t>more k</a:t>
            </a:r>
          </a:p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C24CFF"/>
                </a:solidFill>
                <a:latin typeface="Calibri"/>
              </a:rPr>
              <a:t>→ more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4617720"/>
            <a:ext cx="1965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075"/>
                </a:solidFill>
                <a:latin typeface="Calibri"/>
              </a:rPr>
              <a:t>more latent factors</a:t>
            </a: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075"/>
                </a:solidFill>
                <a:latin typeface="Calibri"/>
              </a:rPr>
              <a:t>always explain MORE</a:t>
            </a: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075"/>
                </a:solidFill>
                <a:latin typeface="Calibri"/>
              </a:rPr>
              <a:t>variance (same PCA</a:t>
            </a: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B6075"/>
                </a:solidFill>
                <a:latin typeface="Calibri"/>
              </a:rPr>
              <a:t>tradeoff)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75"/>
                </a:solidFill>
                <a:latin typeface="Calibri"/>
              </a:rPr>
              <a:t>6.5 Recommendation Systems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651967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75"/>
                </a:solidFill>
                <a:latin typeface="Calibri"/>
              </a:rPr>
              <a:t>Phase 6 · Unsupervised ML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4CFF"/>
                </a:solidFill>
                <a:latin typeface="Calibri"/>
              </a:rPr>
              <a:t>6.5 RECOMMENDATION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2433"/>
                </a:solidFill>
                <a:latin typeface="Calibri"/>
              </a:rPr>
              <a:t>Content-Based Filtering &amp; the Hybrid Blend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05840" cy="38100"/>
          </a:xfrm>
          <a:prstGeom prst="rect">
            <a:avLst/>
          </a:prstGeom>
          <a:solidFill>
            <a:srgbClr val="C24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544068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82296" cy="4114800"/>
          </a:xfrm>
          <a:prstGeom prst="roundRect">
            <a:avLst>
              <a:gd name="adj" fmla="val 50000"/>
            </a:avLst>
          </a:prstGeom>
          <a:solidFill>
            <a:srgbClr val="F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865376"/>
            <a:ext cx="50383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22433"/>
                </a:solidFill>
                <a:latin typeface="Calibri"/>
              </a:rPr>
              <a:t>Content-Based Filtering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249424"/>
            <a:ext cx="503834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5B6075"/>
                </a:solidFill>
                <a:latin typeface="Calibri"/>
              </a:rPr>
              <a:t>›  Uses ITEM attributes — here, genre tags like
Action|Adventure|Sci-Fi — with zero dependence
on other users' ratings.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5B6075"/>
                </a:solidFill>
                <a:latin typeface="Calibri"/>
              </a:rPr>
              <a:t>›  Genres are vectorized (CountVectorizer over the
pipe-separated genre string) then compared with
cosine similarity, movie to movie.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5B6075"/>
                </a:solidFill>
                <a:latin typeface="Calibri"/>
              </a:rPr>
              <a:t>›  Recommends movies whose genre profile is
closest to a movie/user's known preferences.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5B6075"/>
                </a:solidFill>
                <a:latin typeface="Calibri"/>
              </a:rPr>
              <a:t>›  Solves cold start structurally: a brand-new movie
with zero ratings still has genres, so it can be
recommended immediately.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37360"/>
            <a:ext cx="553212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1737360"/>
            <a:ext cx="82296" cy="4114800"/>
          </a:xfrm>
          <a:prstGeom prst="roundRect">
            <a:avLst>
              <a:gd name="adj" fmla="val 50000"/>
            </a:avLst>
          </a:prstGeom>
          <a:solidFill>
            <a:srgbClr val="C24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865376"/>
            <a:ext cx="5129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22433"/>
                </a:solidFill>
                <a:latin typeface="Calibri"/>
              </a:rPr>
              <a:t>The Hybrid Recommender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249424"/>
            <a:ext cx="512978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5B6075"/>
                </a:solidFill>
                <a:latin typeface="Calibri"/>
              </a:rPr>
              <a:t>›  Collaborative score (from SVD) + content score
(average genre-similarity to movies the user rated
≥ 4 stars), blended with a weight (e.g. 0.7 / 0.3).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5B6075"/>
                </a:solidFill>
                <a:latin typeface="Calibri"/>
              </a:rPr>
              <a:t>›  Both scores are NORMALIZED to [0,1] first — an
unnormalized blend would let whichever score has
a larger raw range silently dominate.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5B6075"/>
                </a:solidFill>
                <a:latin typeface="Calibri"/>
              </a:rPr>
              <a:t>›  Shifting collab_weight from 0.7 → 0.3 visibly
changes the recommended titles — a direct,
tunable knob between “what similar users liked”
and “what's similar to what YOU liked.”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75"/>
                </a:solidFill>
                <a:latin typeface="Calibri"/>
              </a:rPr>
              <a:t>6.5 Recommendation Systems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51967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75"/>
                </a:solidFill>
                <a:latin typeface="Calibri"/>
              </a:rPr>
              <a:t>Phase 6 · Unsupervised ML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8A8FA8"/>
                </a:solidFill>
                <a:latin typeface="Calibri"/>
              </a:rPr>
              <a:t>CAPSTONE 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Putting All Five Sections to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5147" y="1965960"/>
            <a:ext cx="3520440" cy="3566160"/>
          </a:xfrm>
          <a:prstGeom prst="roundRect">
            <a:avLst>
              <a:gd name="adj" fmla="val 8000"/>
            </a:avLst>
          </a:prstGeom>
          <a:solidFill>
            <a:srgbClr val="1F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95147" y="1965960"/>
            <a:ext cx="3520440" cy="82296"/>
          </a:xfrm>
          <a:prstGeom prst="round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3747" y="2286000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Customer Segmentation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747" y="3017520"/>
            <a:ext cx="3063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C7CBDE"/>
                </a:solidFill>
                <a:latin typeface="Calibri"/>
              </a:rPr>
              <a:t>Segment, profile, and NAME real B2B client groups.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3747" y="4617720"/>
            <a:ext cx="3063240" cy="685800"/>
          </a:xfrm>
          <a:prstGeom prst="roundRect">
            <a:avLst>
              <a:gd name="adj" fmla="val 30000"/>
            </a:avLst>
          </a:prstGeom>
          <a:solidFill>
            <a:srgbClr val="2A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0907" y="4617720"/>
            <a:ext cx="27889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Wholesale Customers — 440 rows, UCI ML Repository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5627" y="1965960"/>
            <a:ext cx="3520440" cy="3566160"/>
          </a:xfrm>
          <a:prstGeom prst="roundRect">
            <a:avLst>
              <a:gd name="adj" fmla="val 8000"/>
            </a:avLst>
          </a:prstGeom>
          <a:solidFill>
            <a:srgbClr val="1F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35627" y="1965960"/>
            <a:ext cx="3520440" cy="82296"/>
          </a:xfrm>
          <a:prstGeom prst="roundRect">
            <a:avLst/>
          </a:prstGeom>
          <a:solidFill>
            <a:srgbClr val="4CD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4227" y="2286000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Fraud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4227" y="3017520"/>
            <a:ext cx="3063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C7CBDE"/>
                </a:solidFill>
                <a:latin typeface="Calibri"/>
              </a:rPr>
              <a:t>An investigation-budget-aware ensemble anomaly system.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64227" y="4617720"/>
            <a:ext cx="3063240" cy="685800"/>
          </a:xfrm>
          <a:prstGeom prst="roundRect">
            <a:avLst>
              <a:gd name="adj" fmla="val 30000"/>
            </a:avLst>
          </a:prstGeom>
          <a:solidFill>
            <a:srgbClr val="2A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1387" y="4617720"/>
            <a:ext cx="27889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Credit Card Fraud — same 284,807-row dataset as 6.3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76107" y="1965960"/>
            <a:ext cx="3520440" cy="3566160"/>
          </a:xfrm>
          <a:prstGeom prst="roundRect">
            <a:avLst>
              <a:gd name="adj" fmla="val 8000"/>
            </a:avLst>
          </a:prstGeom>
          <a:solidFill>
            <a:srgbClr val="1F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76107" y="1965960"/>
            <a:ext cx="3520440" cy="82296"/>
          </a:xfrm>
          <a:prstGeom prst="roundRect">
            <a:avLst/>
          </a:prstGeom>
          <a:solidFill>
            <a:srgbClr val="C24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04707" y="2286000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Recommendation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4707" y="3017520"/>
            <a:ext cx="3063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C7CBDE"/>
                </a:solidFill>
                <a:latin typeface="Calibri"/>
              </a:rPr>
              <a:t>Proper offline evaluation, plus a concrete cold-start fix.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04707" y="4617720"/>
            <a:ext cx="3063240" cy="685800"/>
          </a:xfrm>
          <a:prstGeom prst="roundRect">
            <a:avLst>
              <a:gd name="adj" fmla="val 30000"/>
            </a:avLst>
          </a:prstGeom>
          <a:solidFill>
            <a:srgbClr val="2A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1867" y="4617720"/>
            <a:ext cx="27889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MovieLens — same dataset as 6.5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943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8A8FA8"/>
                </a:solidFill>
                <a:latin typeface="Calibri"/>
              </a:rPr>
              <a:t>Uses skills across all 5 sections — clustering, dimensionality reduction, anomaly scoring, and collaborative + content-based filtering.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6FFF"/>
                </a:solidFill>
                <a:latin typeface="Calibri"/>
              </a:rPr>
              <a:t>BEFORE PHASE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222433"/>
                </a:solidFill>
                <a:latin typeface="Calibri"/>
              </a:rPr>
              <a:t>Self-Assessment 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05840" cy="38100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B6075"/>
                </a:solidFill>
                <a:latin typeface="Calibri"/>
              </a:rPr>
              <a:t>You should be able to answer all five, without reference material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594360" cy="777240"/>
          </a:xfrm>
          <a:prstGeom prst="roundRect">
            <a:avLst>
              <a:gd name="adj" fmla="val 30000"/>
            </a:avLst>
          </a:prstGeom>
          <a:solidFill>
            <a:srgbClr val="4C6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5943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1828800"/>
            <a:ext cx="10424160" cy="777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1828800"/>
            <a:ext cx="9966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222433"/>
                </a:solidFill>
                <a:latin typeface="Calibri"/>
              </a:rPr>
              <a:t>Choose a clustering method based on whether you know k, expect noise, or need soft assignments.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743200"/>
            <a:ext cx="594360" cy="777240"/>
          </a:xfrm>
          <a:prstGeom prst="roundRect">
            <a:avLst>
              <a:gd name="adj" fmla="val 30000"/>
            </a:avLst>
          </a:prstGeom>
          <a:solidFill>
            <a:srgbClr val="FF8A4C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743200"/>
            <a:ext cx="5943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2743200"/>
            <a:ext cx="10424160" cy="777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2743200"/>
            <a:ext cx="9966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222433"/>
                </a:solidFill>
                <a:latin typeface="Calibri"/>
              </a:rPr>
              <a:t>Explain what PCA / t-SNE / UMAP / autoencoders each optimize for, and when non-linearity earns its cost.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657600"/>
            <a:ext cx="594360" cy="777240"/>
          </a:xfrm>
          <a:prstGeom prst="roundRect">
            <a:avLst>
              <a:gd name="adj" fmla="val 30000"/>
            </a:avLst>
          </a:prstGeom>
          <a:solidFill>
            <a:srgbClr val="4CD07D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657600"/>
            <a:ext cx="5943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22433"/>
                </a:solidFill>
                <a:latin typeface="Calibri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34440" y="3657600"/>
            <a:ext cx="10424160" cy="777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3657600"/>
            <a:ext cx="9966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222433"/>
                </a:solidFill>
                <a:latin typeface="Calibri"/>
              </a:rPr>
              <a:t>Explain how Isolation Forest, One-Class SVM, and LOF each define “anomalous,” and how to evaluate an unsupervised score against labels you didn't train 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572000"/>
            <a:ext cx="594360" cy="777240"/>
          </a:xfrm>
          <a:prstGeom prst="roundRect">
            <a:avLst>
              <a:gd name="adj" fmla="val 30000"/>
            </a:avLst>
          </a:prstGeom>
          <a:solidFill>
            <a:srgbClr val="F5C242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572000"/>
            <a:ext cx="5943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22433"/>
                </a:solidFill>
                <a:latin typeface="Calibri"/>
              </a:rP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34440" y="4572000"/>
            <a:ext cx="10424160" cy="777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8760" y="4572000"/>
            <a:ext cx="9966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222433"/>
                </a:solidFill>
                <a:latin typeface="Calibri"/>
              </a:rPr>
              <a:t>Compute support, confidence, and lift — and explain why lift beats confidence alone.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486400"/>
            <a:ext cx="594360" cy="777240"/>
          </a:xfrm>
          <a:prstGeom prst="roundRect">
            <a:avLst>
              <a:gd name="adj" fmla="val 30000"/>
            </a:avLst>
          </a:prstGeom>
          <a:solidFill>
            <a:srgbClr val="C24C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486400"/>
            <a:ext cx="5943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34440" y="5486400"/>
            <a:ext cx="10424160" cy="777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1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8760" y="5486400"/>
            <a:ext cx="9966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222433"/>
                </a:solidFill>
                <a:latin typeface="Calibri"/>
              </a:rPr>
              <a:t>Explain the cold-start problem and why a hybrid recommender addresses it structurally.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075"/>
                </a:solidFill>
                <a:latin typeface="Calibri"/>
              </a:rPr>
              <a:t>Wrap-Up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651967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075"/>
                </a:solidFill>
                <a:latin typeface="Calibri"/>
              </a:rPr>
              <a:t>Phase 6 · Unsupervised ML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340" cy="146304"/>
          </a:xfrm>
          <a:prstGeom prst="rect">
            <a:avLst/>
          </a:prstGeom>
          <a:solidFill>
            <a:srgbClr val="4C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2438340" cy="146304"/>
          </a:xfrm>
          <a:prstGeom prst="rect">
            <a:avLst/>
          </a:prstGeom>
          <a:solidFill>
            <a:srgbClr val="F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0"/>
            <a:ext cx="2438340" cy="146304"/>
          </a:xfrm>
          <a:prstGeom prst="rect">
            <a:avLst/>
          </a:prstGeom>
          <a:solidFill>
            <a:srgbClr val="4CD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0"/>
            <a:ext cx="2438340" cy="146304"/>
          </a:xfrm>
          <a:prstGeom prst="rect">
            <a:avLst/>
          </a:prstGeom>
          <a:solidFill>
            <a:srgbClr val="F5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0"/>
            <a:ext cx="2438340" cy="146304"/>
          </a:xfrm>
          <a:prstGeom prst="rect">
            <a:avLst/>
          </a:prstGeom>
          <a:solidFill>
            <a:srgbClr val="C24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</a:rPr>
              <a:t>On to Phase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C24CFF"/>
                </a:solidFill>
                <a:latin typeface="Calibri"/>
              </a:rPr>
              <a:t>Feature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C7CBDE"/>
                </a:solidFill>
                <a:latin typeface="Calibri"/>
              </a:rPr>
              <a:t>Every technique in this phase found structure without labels.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C7CBDE"/>
                </a:solidFill>
                <a:latin typeface="Calibri"/>
              </a:rPr>
              <a:t>Next, we turn that structure into better inputs for the models that DO have them.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3093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8A8FA8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